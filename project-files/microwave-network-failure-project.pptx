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5"/>
  </p:notesMasterIdLst>
  <p:sldIdLst>
    <p:sldId id="2767" r:id="rId5"/>
    <p:sldId id="2771" r:id="rId6"/>
    <p:sldId id="2768" r:id="rId7"/>
    <p:sldId id="2770" r:id="rId8"/>
    <p:sldId id="259" r:id="rId9"/>
    <p:sldId id="2775" r:id="rId10"/>
    <p:sldId id="2777" r:id="rId11"/>
    <p:sldId id="263" r:id="rId12"/>
    <p:sldId id="290" r:id="rId13"/>
    <p:sldId id="291" r:id="rId14"/>
    <p:sldId id="292" r:id="rId15"/>
    <p:sldId id="293" r:id="rId16"/>
    <p:sldId id="2780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58" r:id="rId29"/>
    <p:sldId id="285" r:id="rId30"/>
    <p:sldId id="286" r:id="rId31"/>
    <p:sldId id="288" r:id="rId32"/>
    <p:sldId id="2781" r:id="rId33"/>
    <p:sldId id="26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 autoAdjust="0"/>
    <p:restoredTop sz="94695"/>
  </p:normalViewPr>
  <p:slideViewPr>
    <p:cSldViewPr snapToGrid="0">
      <p:cViewPr>
        <p:scale>
          <a:sx n="66" d="100"/>
          <a:sy n="66" d="100"/>
        </p:scale>
        <p:origin x="430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74D77-0328-42FD-89C6-655C61EFB0B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0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5 DataGen-1: emphasize that we did not test only categorical. Binary SMOTEN and categorical SMOTEN were both generated and evaluated with Random Forest. DataGen-1 balances the original training data to 428 samples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5 DataGen-2: explicitly mention that categorical DataGen-2 was also tested. It is important because it proves that all combinations were covered. The result is also useful because it shows synthetic data does not automatically improve every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Task 6 simply: TensorFlow needs numeric arrays, and class labels must be converted into a format the neural network can use. The CVAE is conditional because it receives the class label as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6 architecture: avoid too much mathematics. Say encoder compresses, latent vector stores hidden information, decoder generates. The class label is supplied to both encoder and decoder so we can ask for a specific failure class such as 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7 DataGen-1: mention both binary and categorical CVAE. The important message is that the CVAE generated valid samples, but Random Forest did not improve compared with the strong real-only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7 DataGen-2: this slide is important because it shows CVAE can help when the Cable class is severely reduced. It improved both binary and categorical Random Forest compared with the reduced real-only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briefly. Say the loss curves confirm that the four CVAE generators were trained successfully. Mention that categorical and DataGen-2 models take longer because the task is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4523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0379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5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41" r:id="rId47"/>
    <p:sldLayoutId id="2147483742" r:id="rId48"/>
    <p:sldLayoutId id="2147483743" r:id="rId4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323EA4-D76F-A800-DC7C-C8DA314D6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01" y="1790315"/>
            <a:ext cx="7685140" cy="2621154"/>
          </a:xfrm>
        </p:spPr>
        <p:txBody>
          <a:bodyPr/>
          <a:lstStyle/>
          <a:p>
            <a:r>
              <a:rPr lang="en-IN" sz="6000" b="1" dirty="0">
                <a:latin typeface="Book Antiqua" panose="02040602050305030304" pitchFamily="18" charset="0"/>
              </a:rPr>
              <a:t>Synthetic data generation in microwave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6" y="4695712"/>
            <a:ext cx="5394095" cy="508334"/>
          </a:xfrm>
        </p:spPr>
        <p:txBody>
          <a:bodyPr anchor="t">
            <a:noAutofit/>
          </a:bodyPr>
          <a:lstStyle/>
          <a:p>
            <a:r>
              <a:rPr lang="en-US" sz="1800" b="1" dirty="0">
                <a:latin typeface="Book Antiqua" panose="02040602050305030304" pitchFamily="18" charset="0"/>
              </a:rPr>
              <a:t>NETWORK DATA ANALYSIS LAB - Project 17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0" y="6530015"/>
            <a:ext cx="45719" cy="372077"/>
          </a:xfrm>
        </p:spPr>
        <p:txBody>
          <a:bodyPr/>
          <a:lstStyle/>
          <a:p>
            <a:pPr lvl="0"/>
            <a:r>
              <a:rPr lang="en-US" dirty="0">
                <a:latin typeface="Book Antiqua" panose="02040602050305030304" pitchFamily="18" charset="0"/>
              </a:rPr>
              <a:t>.</a:t>
            </a:r>
            <a:endParaRPr lang="en-US" noProof="0" dirty="0">
              <a:latin typeface="Book Antiqua" panose="02040602050305030304" pitchFamily="18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576" y="5249732"/>
            <a:ext cx="4911455" cy="1240792"/>
          </a:xfrm>
        </p:spPr>
        <p:txBody>
          <a:bodyPr/>
          <a:lstStyle/>
          <a:p>
            <a:pPr lvl="0"/>
            <a:r>
              <a:rPr lang="en-US" sz="1800" b="1" noProof="0" dirty="0">
                <a:latin typeface="Book Antiqua" panose="02040602050305030304" pitchFamily="18" charset="0"/>
              </a:rPr>
              <a:t>Hariharan Murugan </a:t>
            </a:r>
            <a:r>
              <a:rPr lang="en-US" sz="1800" b="1" noProof="0" dirty="0" err="1">
                <a:latin typeface="Book Antiqua" panose="02040602050305030304" pitchFamily="18" charset="0"/>
              </a:rPr>
              <a:t>Marichamy</a:t>
            </a:r>
            <a:r>
              <a:rPr lang="en-US" sz="1800" b="1" noProof="0" dirty="0">
                <a:latin typeface="Book Antiqua" panose="02040602050305030304" pitchFamily="18" charset="0"/>
              </a:rPr>
              <a:t> - 11047334 </a:t>
            </a:r>
          </a:p>
          <a:p>
            <a:pPr lvl="0"/>
            <a:r>
              <a:rPr lang="en-US" sz="1800" b="1" noProof="0" dirty="0" err="1">
                <a:latin typeface="Book Antiqua" panose="02040602050305030304" pitchFamily="18" charset="0"/>
              </a:rPr>
              <a:t>Balasakthi</a:t>
            </a:r>
            <a:r>
              <a:rPr lang="en-US" sz="1800" b="1" noProof="0" dirty="0">
                <a:latin typeface="Book Antiqua" panose="02040602050305030304" pitchFamily="18" charset="0"/>
              </a:rPr>
              <a:t> </a:t>
            </a:r>
            <a:r>
              <a:rPr lang="en-US" sz="1800" b="1" noProof="0" dirty="0" err="1">
                <a:latin typeface="Book Antiqua" panose="02040602050305030304" pitchFamily="18" charset="0"/>
              </a:rPr>
              <a:t>Shanmugaraja</a:t>
            </a:r>
            <a:r>
              <a:rPr lang="en-US" sz="1800" b="1" noProof="0" dirty="0">
                <a:latin typeface="Book Antiqua" panose="02040602050305030304" pitchFamily="18" charset="0"/>
              </a:rPr>
              <a:t> - 11033318</a:t>
            </a:r>
          </a:p>
          <a:p>
            <a:pPr lvl="0"/>
            <a:r>
              <a:rPr lang="en-US" sz="1800" b="1" noProof="0" dirty="0">
                <a:latin typeface="Book Antiqua" panose="02040602050305030304" pitchFamily="18" charset="0"/>
              </a:rPr>
              <a:t>Karuniaa Jacob Selvi - 11034239</a:t>
            </a:r>
          </a:p>
        </p:txBody>
      </p:sp>
      <p:pic>
        <p:nvPicPr>
          <p:cNvPr id="4" name="Picture 3" descr="Home - CCS Aerospaziale del Politecnico di Milano">
            <a:extLst>
              <a:ext uri="{FF2B5EF4-FFF2-40B4-BE49-F238E27FC236}">
                <a16:creationId xmlns:a16="http://schemas.microsoft.com/office/drawing/2014/main" id="{685789BA-625F-31EB-8292-37985950C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8638" y="1090218"/>
            <a:ext cx="4456565" cy="339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B7D0-2410-B886-8543-87994D71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50" y="2474261"/>
            <a:ext cx="8310283" cy="3673734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WHAT IS A MICROWAVE NETWORK?</a:t>
            </a:r>
            <a:br>
              <a:rPr lang="en-IN" sz="4400" b="1" dirty="0">
                <a:solidFill>
                  <a:schemeClr val="accent1"/>
                </a:solidFill>
                <a:latin typeface="Book Antiqua" panose="02040602050305030304" pitchFamily="18" charset="0"/>
              </a:rPr>
            </a:br>
            <a:endParaRPr lang="en-IN" sz="4400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94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8AA9-76D8-E23A-14F9-C5772BC9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69" y="688062"/>
            <a:ext cx="9488246" cy="515599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3">
                    <a:lumMod val="75000"/>
                  </a:schemeClr>
                </a:solidFill>
                <a:latin typeface="Book Antiqua" panose="02040602050305030304" pitchFamily="18" charset="0"/>
              </a:rPr>
              <a:t>WHY FAILURE MANAGEMENT MATTERS IN MICROWAVE NETWORKS?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CAC12-A5C1-0ABC-09D4-A4016790EA30}"/>
              </a:ext>
            </a:extLst>
          </p:cNvPr>
          <p:cNvSpPr txBox="1"/>
          <p:nvPr/>
        </p:nvSpPr>
        <p:spPr>
          <a:xfrm>
            <a:off x="548436" y="2523688"/>
            <a:ext cx="467753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Microwave links carry critical telecom traffic.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Failures reduce service quality and availability.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Manual diagnosis is time-consuming.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Machine learning can identify hardware-failure patterns from alarm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Faster diagnosis helps reduce downtime and maintenance effort.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8C39B8-9D36-E3AA-E2DC-8A7758B54B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42" y="2409713"/>
            <a:ext cx="5558741" cy="37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8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CAAF258-1A48-3B80-5168-3727A50E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92" y="906399"/>
            <a:ext cx="11191540" cy="62525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3">
                    <a:lumMod val="75000"/>
                  </a:schemeClr>
                </a:solidFill>
                <a:latin typeface="Book Antiqua" panose="02040602050305030304" pitchFamily="18" charset="0"/>
              </a:rPr>
              <a:t>HOW DO FAILURES APPEAR IN THE NETWORK?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0CF70D-C3B4-359F-20C1-7302AC05DBBF}"/>
              </a:ext>
            </a:extLst>
          </p:cNvPr>
          <p:cNvSpPr/>
          <p:nvPr/>
        </p:nvSpPr>
        <p:spPr>
          <a:xfrm>
            <a:off x="489473" y="2517289"/>
            <a:ext cx="2237591" cy="769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ook Antiqua" panose="02040602050305030304" pitchFamily="18" charset="0"/>
              </a:rPr>
              <a:t>Hardware fault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78F894-7C7F-0D34-F48D-FE915823AD96}"/>
              </a:ext>
            </a:extLst>
          </p:cNvPr>
          <p:cNvSpPr/>
          <p:nvPr/>
        </p:nvSpPr>
        <p:spPr>
          <a:xfrm>
            <a:off x="3485477" y="2517289"/>
            <a:ext cx="2237591" cy="769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ook Antiqua" panose="02040602050305030304" pitchFamily="18" charset="0"/>
              </a:rPr>
              <a:t>Alarm generation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196604-7BB5-5E94-2657-26C1D750CE95}"/>
              </a:ext>
            </a:extLst>
          </p:cNvPr>
          <p:cNvSpPr/>
          <p:nvPr/>
        </p:nvSpPr>
        <p:spPr>
          <a:xfrm>
            <a:off x="9423699" y="2517289"/>
            <a:ext cx="2237591" cy="769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ook Antiqua" panose="02040602050305030304" pitchFamily="18" charset="0"/>
              </a:rPr>
              <a:t>Failure identification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C40D57-C959-515C-D2CB-3762C7C2B545}"/>
              </a:ext>
            </a:extLst>
          </p:cNvPr>
          <p:cNvSpPr/>
          <p:nvPr/>
        </p:nvSpPr>
        <p:spPr>
          <a:xfrm>
            <a:off x="6466162" y="2517289"/>
            <a:ext cx="2237591" cy="769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ook Antiqua" panose="02040602050305030304" pitchFamily="18" charset="0"/>
              </a:rPr>
              <a:t>NMS recording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A001BC-01E2-7CC1-3C08-332211362955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2727064" y="2901875"/>
            <a:ext cx="758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9BD193-08B1-FD78-B38F-358789A4D379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5723068" y="2901875"/>
            <a:ext cx="743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B01225-5CDE-C6F8-4DAD-FE8EA0BE7F0C}"/>
              </a:ext>
            </a:extLst>
          </p:cNvPr>
          <p:cNvCxnSpPr>
            <a:stCxn id="20" idx="3"/>
            <a:endCxn id="18" idx="1"/>
          </p:cNvCxnSpPr>
          <p:nvPr/>
        </p:nvCxnSpPr>
        <p:spPr>
          <a:xfrm>
            <a:off x="8703753" y="2901875"/>
            <a:ext cx="7199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3AE820-4FBB-4246-B8A4-71DB4D4E2289}"/>
              </a:ext>
            </a:extLst>
          </p:cNvPr>
          <p:cNvCxnSpPr/>
          <p:nvPr/>
        </p:nvCxnSpPr>
        <p:spPr>
          <a:xfrm>
            <a:off x="1585732" y="3429000"/>
            <a:ext cx="0" cy="448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75316A-398F-53B5-B447-00AAE9CDF3AD}"/>
              </a:ext>
            </a:extLst>
          </p:cNvPr>
          <p:cNvCxnSpPr>
            <a:cxnSpLocks/>
          </p:cNvCxnSpPr>
          <p:nvPr/>
        </p:nvCxnSpPr>
        <p:spPr>
          <a:xfrm>
            <a:off x="4589362" y="3429000"/>
            <a:ext cx="0" cy="847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B7BA5E-3943-44F1-0FA2-49A395FCFF98}"/>
              </a:ext>
            </a:extLst>
          </p:cNvPr>
          <p:cNvCxnSpPr>
            <a:cxnSpLocks/>
          </p:cNvCxnSpPr>
          <p:nvPr/>
        </p:nvCxnSpPr>
        <p:spPr>
          <a:xfrm>
            <a:off x="7584957" y="3429000"/>
            <a:ext cx="0" cy="112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898D7D-55F0-607C-5BF6-FD5F25B1A8F5}"/>
              </a:ext>
            </a:extLst>
          </p:cNvPr>
          <p:cNvCxnSpPr/>
          <p:nvPr/>
        </p:nvCxnSpPr>
        <p:spPr>
          <a:xfrm>
            <a:off x="10525760" y="3429000"/>
            <a:ext cx="0" cy="16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B905CFC-5E80-864D-51CB-1DC001974AB5}"/>
              </a:ext>
            </a:extLst>
          </p:cNvPr>
          <p:cNvSpPr txBox="1"/>
          <p:nvPr/>
        </p:nvSpPr>
        <p:spPr>
          <a:xfrm>
            <a:off x="735249" y="3990340"/>
            <a:ext cx="17170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Book Antiqua" panose="02040602050305030304" pitchFamily="18" charset="0"/>
              </a:rPr>
              <a:t>IDU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Book Antiqua" panose="02040602050305030304" pitchFamily="18" charset="0"/>
              </a:rPr>
              <a:t>ODU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Book Antiqua" panose="02040602050305030304" pitchFamily="18" charset="0"/>
              </a:rPr>
              <a:t>Cable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Book Antiqua" panose="02040602050305030304" pitchFamily="18" charset="0"/>
              </a:rPr>
              <a:t>Power failure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D813D-BA74-F2BA-CD0C-1CD76B92C725}"/>
              </a:ext>
            </a:extLst>
          </p:cNvPr>
          <p:cNvSpPr txBox="1"/>
          <p:nvPr/>
        </p:nvSpPr>
        <p:spPr>
          <a:xfrm>
            <a:off x="3714029" y="4287335"/>
            <a:ext cx="1822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The network devices produce alarm signals related to the fault.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AF9CCF-B155-FAD4-4BD6-C8154EAC8438}"/>
              </a:ext>
            </a:extLst>
          </p:cNvPr>
          <p:cNvSpPr txBox="1"/>
          <p:nvPr/>
        </p:nvSpPr>
        <p:spPr>
          <a:xfrm>
            <a:off x="6726438" y="4602779"/>
            <a:ext cx="17170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For each 15-minute window, the system records how long each of the 164 alarms was active.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3A805E-B0B8-202C-DE43-9873A3133203}"/>
              </a:ext>
            </a:extLst>
          </p:cNvPr>
          <p:cNvSpPr txBox="1"/>
          <p:nvPr/>
        </p:nvSpPr>
        <p:spPr>
          <a:xfrm>
            <a:off x="9394414" y="5186680"/>
            <a:ext cx="2296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The complete alarm pattern is analysed to classify the hardware failure.</a:t>
            </a:r>
          </a:p>
        </p:txBody>
      </p:sp>
      <p:pic>
        <p:nvPicPr>
          <p:cNvPr id="44" name="Picture 43" descr="4,100+ System Failure Icon Stock Illustrations, Royalty-Free Vector  Graphics &amp; Clip Art - iStock">
            <a:extLst>
              <a:ext uri="{FF2B5EF4-FFF2-40B4-BE49-F238E27FC236}">
                <a16:creationId xmlns:a16="http://schemas.microsoft.com/office/drawing/2014/main" id="{846214C8-3746-9846-05AD-54298405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93" y="1813410"/>
            <a:ext cx="990621" cy="660413"/>
          </a:xfrm>
          <a:prstGeom prst="rect">
            <a:avLst/>
          </a:prstGeom>
        </p:spPr>
      </p:pic>
      <p:pic>
        <p:nvPicPr>
          <p:cNvPr id="46" name="Picture 45" descr="Alarm icon in Blue UI Style">
            <a:extLst>
              <a:ext uri="{FF2B5EF4-FFF2-40B4-BE49-F238E27FC236}">
                <a16:creationId xmlns:a16="http://schemas.microsoft.com/office/drawing/2014/main" id="{44961FCA-B220-90BF-9125-7BF39AED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437" y="1921510"/>
            <a:ext cx="496570" cy="496570"/>
          </a:xfrm>
          <a:prstGeom prst="rect">
            <a:avLst/>
          </a:prstGeom>
        </p:spPr>
      </p:pic>
      <p:pic>
        <p:nvPicPr>
          <p:cNvPr id="50" name="Picture 49" descr="Problem - Free business and finance icons">
            <a:extLst>
              <a:ext uri="{FF2B5EF4-FFF2-40B4-BE49-F238E27FC236}">
                <a16:creationId xmlns:a16="http://schemas.microsoft.com/office/drawing/2014/main" id="{2126E2F0-9F16-ADDE-7512-B49D77E1A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701" y="1892031"/>
            <a:ext cx="526049" cy="526049"/>
          </a:xfrm>
          <a:prstGeom prst="rect">
            <a:avLst/>
          </a:prstGeom>
        </p:spPr>
      </p:pic>
      <p:pic>
        <p:nvPicPr>
          <p:cNvPr id="54" name="Picture 53" descr="Database icon in Blue UI Style">
            <a:extLst>
              <a:ext uri="{FF2B5EF4-FFF2-40B4-BE49-F238E27FC236}">
                <a16:creationId xmlns:a16="http://schemas.microsoft.com/office/drawing/2014/main" id="{E77C176B-57C0-2EC1-A33F-56C2F0ACD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923" y="1892031"/>
            <a:ext cx="526049" cy="5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1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B42B-AFB0-2070-781E-813BFB42C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09" y="1318603"/>
            <a:ext cx="10515600" cy="3932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Book Antiqua" panose="02040602050305030304" pitchFamily="18" charset="0"/>
              </a:rPr>
              <a:t>Dataset overview</a:t>
            </a:r>
            <a:br>
              <a:rPr lang="en-IN" dirty="0">
                <a:latin typeface="Book Antiqua" panose="02040602050305030304" pitchFamily="18" charset="0"/>
              </a:rPr>
            </a:br>
            <a:endParaRPr lang="en-IN" dirty="0">
              <a:latin typeface="Book Antiqua" panose="0204060205030503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30BF1E-0ED7-D600-8201-9185E37B4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007" y="2275916"/>
            <a:ext cx="4464887" cy="24450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BA5B01-2D13-E554-7FC4-3966C9C0EF34}"/>
              </a:ext>
            </a:extLst>
          </p:cNvPr>
          <p:cNvSpPr/>
          <p:nvPr/>
        </p:nvSpPr>
        <p:spPr>
          <a:xfrm>
            <a:off x="2106593" y="5547381"/>
            <a:ext cx="7656652" cy="490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Book Antiqua" panose="02040602050305030304" pitchFamily="18" charset="0"/>
              </a:rPr>
              <a:t>This imbalance motivates the use of synthetic data generation.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5DEE8-AF3E-7649-097F-0D84800F06BF}"/>
              </a:ext>
            </a:extLst>
          </p:cNvPr>
          <p:cNvSpPr txBox="1"/>
          <p:nvPr/>
        </p:nvSpPr>
        <p:spPr>
          <a:xfrm>
            <a:off x="7083705" y="2067287"/>
            <a:ext cx="35650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Book Antiqua" panose="02040602050305030304" pitchFamily="18" charset="0"/>
              </a:rPr>
              <a:t>Every observation captures the alarm activity of a microwave link during a </a:t>
            </a:r>
            <a:r>
              <a:rPr lang="en-IN" b="1" dirty="0">
                <a:latin typeface="Book Antiqua" panose="02040602050305030304" pitchFamily="18" charset="0"/>
              </a:rPr>
              <a:t>15-minute period</a:t>
            </a:r>
            <a:r>
              <a:rPr lang="en-IN" dirty="0">
                <a:latin typeface="Book Antiqua" panose="02040602050305030304" pitchFamily="18" charset="0"/>
              </a:rPr>
              <a:t>. The model studies the combined pattern of </a:t>
            </a:r>
            <a:r>
              <a:rPr lang="en-IN" b="1" dirty="0">
                <a:latin typeface="Book Antiqua" panose="02040602050305030304" pitchFamily="18" charset="0"/>
              </a:rPr>
              <a:t>164 alarms</a:t>
            </a:r>
            <a:r>
              <a:rPr lang="en-IN" dirty="0">
                <a:latin typeface="Book Antiqua" panose="02040602050305030304" pitchFamily="18" charset="0"/>
              </a:rPr>
              <a:t> to identify the most likely hardware failure.</a:t>
            </a:r>
          </a:p>
          <a:p>
            <a:pPr algn="ctr"/>
            <a:endParaRPr lang="en-IN" dirty="0">
              <a:latin typeface="Book Antiqua" panose="02040602050305030304" pitchFamily="18" charset="0"/>
            </a:endParaRPr>
          </a:p>
          <a:p>
            <a:pPr algn="ctr"/>
            <a:r>
              <a:rPr lang="en-IN" dirty="0">
                <a:latin typeface="Book Antiqua" panose="02040602050305030304" pitchFamily="18" charset="0"/>
              </a:rPr>
              <a:t>Cable failure is the smallest class, so it is the most affected by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366910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D4603D-32C2-DB10-4470-ECCDABE81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16" y="3654098"/>
            <a:ext cx="4589042" cy="28463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CEE953-3099-2853-5DF3-0BA45855B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528" y="3654098"/>
            <a:ext cx="4703325" cy="28058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BC1430-5572-F554-7DC9-A09C09AB5363}"/>
              </a:ext>
            </a:extLst>
          </p:cNvPr>
          <p:cNvSpPr txBox="1"/>
          <p:nvPr/>
        </p:nvSpPr>
        <p:spPr>
          <a:xfrm>
            <a:off x="187330" y="398076"/>
            <a:ext cx="64286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RAW DATA ANALYSIS AND 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EE739B-A06B-C395-BEDA-21D1C2B777B9}"/>
              </a:ext>
            </a:extLst>
          </p:cNvPr>
          <p:cNvSpPr txBox="1"/>
          <p:nvPr/>
        </p:nvSpPr>
        <p:spPr>
          <a:xfrm>
            <a:off x="3767616" y="1397675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One row represents one </a:t>
            </a:r>
            <a:r>
              <a:rPr lang="en-IN" sz="1800" b="1" dirty="0">
                <a:latin typeface="Book Antiqua" panose="02040602050305030304" pitchFamily="18" charset="0"/>
              </a:rPr>
              <a:t>hardware-failure observation</a:t>
            </a:r>
            <a:r>
              <a:rPr lang="en-IN" sz="1800" dirty="0">
                <a:latin typeface="Book Antiqua" panose="0204060205030503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Each observation covers a </a:t>
            </a:r>
            <a:r>
              <a:rPr lang="en-IN" sz="1800" b="1" dirty="0">
                <a:latin typeface="Book Antiqua" panose="02040602050305030304" pitchFamily="18" charset="0"/>
              </a:rPr>
              <a:t>15-minute window</a:t>
            </a:r>
            <a:r>
              <a:rPr lang="en-IN" sz="1800" dirty="0">
                <a:latin typeface="Book Antiqua" panose="0204060205030503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Each alarm column records how many seconds the alarm was active.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 Antiqua" panose="02040602050305030304" pitchFamily="18" charset="0"/>
              </a:rPr>
              <a:t>0 seconds</a:t>
            </a:r>
            <a:r>
              <a:rPr lang="en-IN" sz="1800" dirty="0">
                <a:latin typeface="Book Antiqua" panose="02040602050305030304" pitchFamily="18" charset="0"/>
              </a:rPr>
              <a:t> means inactive.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Book Antiqua" panose="02040602050305030304" pitchFamily="18" charset="0"/>
              </a:rPr>
              <a:t>900 seconds</a:t>
            </a:r>
            <a:r>
              <a:rPr lang="en-IN" sz="1800" dirty="0">
                <a:latin typeface="Book Antiqua" panose="02040602050305030304" pitchFamily="18" charset="0"/>
              </a:rPr>
              <a:t> means active for the full window.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The label shows the diagnosed failure class.</a:t>
            </a:r>
          </a:p>
        </p:txBody>
      </p:sp>
    </p:spTree>
    <p:extLst>
      <p:ext uri="{BB962C8B-B14F-4D97-AF65-F5344CB8AC3E}">
        <p14:creationId xmlns:p14="http://schemas.microsoft.com/office/powerpoint/2010/main" val="200913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BE19-46C9-53AF-BAB7-37ED8C08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23" y="375208"/>
            <a:ext cx="10046706" cy="94530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ALARM DURATION AND FAILURE PATTERNS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2D73B-FB7A-7485-643A-25131458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CCE8C0-FB2C-BA90-0BC6-A3BBEBD7B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80" y="1529995"/>
            <a:ext cx="4903707" cy="2702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BFC3E-F344-C815-842E-BE6CF0C80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41" t="45569" r="66814" b="36784"/>
          <a:stretch>
            <a:fillRect/>
          </a:stretch>
        </p:blipFill>
        <p:spPr>
          <a:xfrm>
            <a:off x="1654722" y="4960029"/>
            <a:ext cx="2583629" cy="12102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6F9AE6-91A5-DF4C-51F2-2542804556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92" b="86216"/>
          <a:stretch>
            <a:fillRect/>
          </a:stretch>
        </p:blipFill>
        <p:spPr>
          <a:xfrm>
            <a:off x="7344476" y="1214832"/>
            <a:ext cx="3435275" cy="9453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48DD82-D6AB-3DE9-E9D7-5A87E45225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0" r="68693" b="52784"/>
          <a:stretch>
            <a:fillRect/>
          </a:stretch>
        </p:blipFill>
        <p:spPr>
          <a:xfrm>
            <a:off x="7344476" y="2373579"/>
            <a:ext cx="3435275" cy="6992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DF1F91-D813-A1A4-549F-4DB641F08E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7" t="70353" r="69100" b="19451"/>
          <a:stretch>
            <a:fillRect/>
          </a:stretch>
        </p:blipFill>
        <p:spPr>
          <a:xfrm>
            <a:off x="7305481" y="3263308"/>
            <a:ext cx="3474270" cy="6992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041A30-E839-A3BB-AF76-EEE71C6BB0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98" r="68301" b="24000"/>
          <a:stretch>
            <a:fillRect/>
          </a:stretch>
        </p:blipFill>
        <p:spPr>
          <a:xfrm>
            <a:off x="7344476" y="4143140"/>
            <a:ext cx="3435274" cy="7476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79F920-172E-2367-8622-6A1E4BAF5D1F}"/>
              </a:ext>
            </a:extLst>
          </p:cNvPr>
          <p:cNvSpPr txBox="1"/>
          <p:nvPr/>
        </p:nvSpPr>
        <p:spPr>
          <a:xfrm>
            <a:off x="6162278" y="506612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Some alarms appear in multiple failure classes, so one alarm alone cannot identify the failure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BE04B6-7069-CDBB-DF87-3504906534D2}"/>
              </a:ext>
            </a:extLst>
          </p:cNvPr>
          <p:cNvSpPr txBox="1"/>
          <p:nvPr/>
        </p:nvSpPr>
        <p:spPr>
          <a:xfrm>
            <a:off x="-154385" y="4381586"/>
            <a:ext cx="609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The dataset is highly sparse because most alarms are inactive</a:t>
            </a:r>
          </a:p>
        </p:txBody>
      </p:sp>
    </p:spTree>
    <p:extLst>
      <p:ext uri="{BB962C8B-B14F-4D97-AF65-F5344CB8AC3E}">
        <p14:creationId xmlns:p14="http://schemas.microsoft.com/office/powerpoint/2010/main" val="324124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A143-D81A-0A39-1A25-44A08F3D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88"/>
            <a:ext cx="11125032" cy="96510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  <a:latin typeface="Book Antiqua" panose="02040602050305030304" pitchFamily="18" charset="0"/>
              </a:rPr>
              <a:t>Feature preprocessing: two representations</a:t>
            </a:r>
            <a:br>
              <a:rPr lang="en-IN" dirty="0">
                <a:latin typeface="Book Antiqua" panose="02040602050305030304" pitchFamily="18" charset="0"/>
              </a:rPr>
            </a:b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E008-FBD9-F4DF-A84F-2F76AB0EC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30" y="2199922"/>
            <a:ext cx="4755776" cy="1758075"/>
          </a:xfrm>
        </p:spPr>
        <p:txBody>
          <a:bodyPr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defRPr sz="1800">
                <a:solidFill>
                  <a:srgbClr val="232837"/>
                </a:solidFill>
              </a:defRPr>
            </a:pPr>
            <a:r>
              <a:rPr lang="en-US" sz="1700" dirty="0">
                <a:latin typeface="Book Antiqua" panose="02040602050305030304" pitchFamily="18" charset="0"/>
              </a:rPr>
              <a:t>If alarm value &gt; 0 → 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defRPr sz="1800">
                <a:solidFill>
                  <a:srgbClr val="232837"/>
                </a:solidFill>
              </a:defRPr>
            </a:pPr>
            <a:r>
              <a:rPr lang="en-US" sz="1700" dirty="0">
                <a:latin typeface="Book Antiqua" panose="02040602050305030304" pitchFamily="18" charset="0"/>
              </a:rPr>
              <a:t>If alarm value = 0 → 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defRPr sz="1800">
                <a:solidFill>
                  <a:srgbClr val="232837"/>
                </a:solidFill>
              </a:defRPr>
            </a:pPr>
            <a:r>
              <a:rPr lang="en-US" sz="1700" dirty="0">
                <a:latin typeface="Book Antiqua" panose="02040602050305030304" pitchFamily="18" charset="0"/>
              </a:rPr>
              <a:t>Captures alarm occurrence only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defRPr sz="1800">
                <a:solidFill>
                  <a:srgbClr val="232837"/>
                </a:solidFill>
              </a:defRPr>
            </a:pPr>
            <a:r>
              <a:rPr lang="en-US" sz="1700" dirty="0">
                <a:latin typeface="Book Antiqua" panose="02040602050305030304" pitchFamily="18" charset="0"/>
              </a:rPr>
              <a:t>Simple and robust for sparse data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CAA25D06-B102-944C-7471-4834B1DA4F49}"/>
              </a:ext>
            </a:extLst>
          </p:cNvPr>
          <p:cNvSpPr txBox="1"/>
          <p:nvPr/>
        </p:nvSpPr>
        <p:spPr>
          <a:xfrm>
            <a:off x="6263639" y="2205301"/>
            <a:ext cx="4663440" cy="25603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05000"/>
              </a:lnSpc>
              <a:buFont typeface="Arial" panose="020B0604020202020204" pitchFamily="34" charset="0"/>
              <a:buChar char="•"/>
              <a:defRPr sz="1800">
                <a:solidFill>
                  <a:srgbClr val="232837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0 seconds → 0</a:t>
            </a:r>
          </a:p>
          <a:p>
            <a:pPr marL="285750" indent="-285750" algn="ctr">
              <a:lnSpc>
                <a:spcPct val="105000"/>
              </a:lnSpc>
              <a:buFont typeface="Arial" panose="020B0604020202020204" pitchFamily="34" charset="0"/>
              <a:buChar char="•"/>
              <a:defRPr sz="1800">
                <a:solidFill>
                  <a:srgbClr val="232837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1–45 seconds → 1</a:t>
            </a:r>
          </a:p>
          <a:p>
            <a:pPr marL="285750" indent="-285750" algn="ctr">
              <a:lnSpc>
                <a:spcPct val="105000"/>
              </a:lnSpc>
              <a:buFont typeface="Arial" panose="020B0604020202020204" pitchFamily="34" charset="0"/>
              <a:buChar char="•"/>
              <a:defRPr sz="1800">
                <a:solidFill>
                  <a:srgbClr val="232837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46–450 seconds → 2</a:t>
            </a:r>
          </a:p>
          <a:p>
            <a:pPr marL="285750" indent="-285750" algn="ctr">
              <a:lnSpc>
                <a:spcPct val="105000"/>
              </a:lnSpc>
              <a:buFont typeface="Arial" panose="020B0604020202020204" pitchFamily="34" charset="0"/>
              <a:buChar char="•"/>
              <a:defRPr sz="1800">
                <a:solidFill>
                  <a:srgbClr val="232837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451–900 seconds → 3</a:t>
            </a:r>
          </a:p>
          <a:p>
            <a:pPr marL="285750" indent="-285750" algn="ctr">
              <a:lnSpc>
                <a:spcPct val="105000"/>
              </a:lnSpc>
              <a:buFont typeface="Arial" panose="020B0604020202020204" pitchFamily="34" charset="0"/>
              <a:buChar char="•"/>
              <a:defRPr sz="1800">
                <a:solidFill>
                  <a:srgbClr val="232837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Captures alarm duration severity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C24C26DA-DBF2-3605-EDE6-F866A0EED1DD}"/>
              </a:ext>
            </a:extLst>
          </p:cNvPr>
          <p:cNvSpPr/>
          <p:nvPr/>
        </p:nvSpPr>
        <p:spPr>
          <a:xfrm>
            <a:off x="7116183" y="1435092"/>
            <a:ext cx="2743200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Book Antiqua" panose="02040602050305030304" pitchFamily="18" charset="0"/>
              </a:rPr>
              <a:t>Categorical features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E76FF98C-481F-E824-C1F3-F10BD3A9359E}"/>
              </a:ext>
            </a:extLst>
          </p:cNvPr>
          <p:cNvSpPr/>
          <p:nvPr/>
        </p:nvSpPr>
        <p:spPr>
          <a:xfrm>
            <a:off x="1626198" y="1435092"/>
            <a:ext cx="2377440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latin typeface="Book Antiqua" panose="02040602050305030304" pitchFamily="18" charset="0"/>
              </a:rPr>
              <a:t>Binary features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A81FB9-4E80-5198-B79E-45EB94BBDD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90" t="38298" r="29967" b="42373"/>
          <a:stretch>
            <a:fillRect/>
          </a:stretch>
        </p:blipFill>
        <p:spPr>
          <a:xfrm>
            <a:off x="1450491" y="3779040"/>
            <a:ext cx="2809537" cy="1539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CE1FC9-A8CD-C631-8A32-40FF6FD81A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910" t="48337" r="21275" b="32483"/>
          <a:stretch>
            <a:fillRect/>
          </a:stretch>
        </p:blipFill>
        <p:spPr>
          <a:xfrm>
            <a:off x="7220174" y="3778839"/>
            <a:ext cx="2931359" cy="15402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DFFF9A-20CE-A99F-04F6-15CDCAC94EC1}"/>
              </a:ext>
            </a:extLst>
          </p:cNvPr>
          <p:cNvSpPr/>
          <p:nvPr/>
        </p:nvSpPr>
        <p:spPr>
          <a:xfrm>
            <a:off x="838200" y="5806508"/>
            <a:ext cx="9833386" cy="793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32837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We compare both because binary features reduce noise, while categorical features preserve more information.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DC2A00-1252-D639-CBF3-F083C9455D17}"/>
              </a:ext>
            </a:extLst>
          </p:cNvPr>
          <p:cNvCxnSpPr/>
          <p:nvPr/>
        </p:nvCxnSpPr>
        <p:spPr>
          <a:xfrm>
            <a:off x="5593976" y="1435092"/>
            <a:ext cx="0" cy="397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03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0" y="34507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TRAIN-TEST SPLIT AND PATTERN OVERLAP</a:t>
            </a:r>
            <a:endParaRPr lang="en-US" sz="2500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87998" y="9959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70 / 30 STRATIFIED SPLIT</a:t>
            </a:r>
            <a:endParaRPr lang="en-US" u="sng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81EC66-88E2-F755-AB7E-9615C426910C}"/>
              </a:ext>
            </a:extLst>
          </p:cNvPr>
          <p:cNvSpPr txBox="1"/>
          <p:nvPr/>
        </p:nvSpPr>
        <p:spPr>
          <a:xfrm>
            <a:off x="2391607" y="1480696"/>
            <a:ext cx="672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02A33"/>
                </a:solidFill>
                <a:latin typeface="Book Antiqua" panose="02040602050305030304" pitchFamily="18" charset="0"/>
              </a:rPr>
              <a:t>Original dataset: 1,669 real observations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202A33"/>
                </a:solidFill>
                <a:latin typeface="Book Antiqua" panose="02040602050305030304" pitchFamily="18" charset="0"/>
              </a:rPr>
              <a:t>Split preserves the four failure-class proportions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B27717-B8A2-4C3F-0C3E-A5268738EC41}"/>
              </a:ext>
            </a:extLst>
          </p:cNvPr>
          <p:cNvSpPr txBox="1"/>
          <p:nvPr/>
        </p:nvSpPr>
        <p:spPr>
          <a:xfrm>
            <a:off x="629050" y="3639563"/>
            <a:ext cx="4403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CLASS DISTRIBUTION AFTER SPLIT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A3F682-2A32-1085-635F-21E0854EBF64}"/>
              </a:ext>
            </a:extLst>
          </p:cNvPr>
          <p:cNvSpPr txBox="1"/>
          <p:nvPr/>
        </p:nvSpPr>
        <p:spPr>
          <a:xfrm>
            <a:off x="8831986" y="3628947"/>
            <a:ext cx="129586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RESULT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ABC796-7C19-B809-E354-F7F48F3699D1}"/>
              </a:ext>
            </a:extLst>
          </p:cNvPr>
          <p:cNvSpPr/>
          <p:nvPr/>
        </p:nvSpPr>
        <p:spPr>
          <a:xfrm>
            <a:off x="1778312" y="2497977"/>
            <a:ext cx="2192545" cy="662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Full dataset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1,669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1F7A2AD-5CD1-244E-9A3B-D95F23268EB5}"/>
              </a:ext>
            </a:extLst>
          </p:cNvPr>
          <p:cNvSpPr/>
          <p:nvPr/>
        </p:nvSpPr>
        <p:spPr>
          <a:xfrm>
            <a:off x="4923078" y="2486595"/>
            <a:ext cx="2075632" cy="662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Training set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1,168 (70%)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DAF210-898E-6CF6-AB36-FD488B744D5E}"/>
              </a:ext>
            </a:extLst>
          </p:cNvPr>
          <p:cNvSpPr/>
          <p:nvPr/>
        </p:nvSpPr>
        <p:spPr>
          <a:xfrm>
            <a:off x="7955166" y="2486595"/>
            <a:ext cx="2192544" cy="662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Test set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501 (30%)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924425B-6712-ABC9-F866-D6F0D4FBA072}"/>
              </a:ext>
            </a:extLst>
          </p:cNvPr>
          <p:cNvCxnSpPr>
            <a:stCxn id="66" idx="3"/>
            <a:endCxn id="68" idx="1"/>
          </p:cNvCxnSpPr>
          <p:nvPr/>
        </p:nvCxnSpPr>
        <p:spPr>
          <a:xfrm flipV="1">
            <a:off x="3970857" y="2818065"/>
            <a:ext cx="952221" cy="11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39F68F-7D4E-975E-B4B5-31DD21A5E3D5}"/>
              </a:ext>
            </a:extLst>
          </p:cNvPr>
          <p:cNvCxnSpPr>
            <a:stCxn id="68" idx="3"/>
            <a:endCxn id="70" idx="1"/>
          </p:cNvCxnSpPr>
          <p:nvPr/>
        </p:nvCxnSpPr>
        <p:spPr>
          <a:xfrm>
            <a:off x="6998710" y="2818065"/>
            <a:ext cx="956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414F18D4-A682-7DC0-636E-FF1D3C0D2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635341"/>
              </p:ext>
            </p:extLst>
          </p:nvPr>
        </p:nvGraphicFramePr>
        <p:xfrm>
          <a:off x="399797" y="4138852"/>
          <a:ext cx="4862212" cy="229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553">
                  <a:extLst>
                    <a:ext uri="{9D8B030D-6E8A-4147-A177-3AD203B41FA5}">
                      <a16:colId xmlns:a16="http://schemas.microsoft.com/office/drawing/2014/main" val="703514552"/>
                    </a:ext>
                  </a:extLst>
                </a:gridCol>
                <a:gridCol w="1215553">
                  <a:extLst>
                    <a:ext uri="{9D8B030D-6E8A-4147-A177-3AD203B41FA5}">
                      <a16:colId xmlns:a16="http://schemas.microsoft.com/office/drawing/2014/main" val="2809135964"/>
                    </a:ext>
                  </a:extLst>
                </a:gridCol>
                <a:gridCol w="1215553">
                  <a:extLst>
                    <a:ext uri="{9D8B030D-6E8A-4147-A177-3AD203B41FA5}">
                      <a16:colId xmlns:a16="http://schemas.microsoft.com/office/drawing/2014/main" val="3452162044"/>
                    </a:ext>
                  </a:extLst>
                </a:gridCol>
                <a:gridCol w="1215553">
                  <a:extLst>
                    <a:ext uri="{9D8B030D-6E8A-4147-A177-3AD203B41FA5}">
                      <a16:colId xmlns:a16="http://schemas.microsoft.com/office/drawing/2014/main" val="2590151634"/>
                    </a:ext>
                  </a:extLst>
                </a:gridCol>
              </a:tblGrid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FAILURE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89008"/>
                  </a:ext>
                </a:extLst>
              </a:tr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IDU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889708"/>
                  </a:ext>
                </a:extLst>
              </a:tr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ODU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64536"/>
                  </a:ext>
                </a:extLst>
              </a:tr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26645"/>
                  </a:ext>
                </a:extLst>
              </a:tr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254540"/>
                  </a:ext>
                </a:extLst>
              </a:tr>
              <a:tr h="35621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881864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C2C13323-7F10-D6EB-81D2-620BF162F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723503"/>
              </p:ext>
            </p:extLst>
          </p:nvPr>
        </p:nvGraphicFramePr>
        <p:xfrm>
          <a:off x="7640569" y="4218280"/>
          <a:ext cx="3678702" cy="1914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595">
                  <a:extLst>
                    <a:ext uri="{9D8B030D-6E8A-4147-A177-3AD203B41FA5}">
                      <a16:colId xmlns:a16="http://schemas.microsoft.com/office/drawing/2014/main" val="968410330"/>
                    </a:ext>
                  </a:extLst>
                </a:gridCol>
                <a:gridCol w="1814107">
                  <a:extLst>
                    <a:ext uri="{9D8B030D-6E8A-4147-A177-3AD203B41FA5}">
                      <a16:colId xmlns:a16="http://schemas.microsoft.com/office/drawing/2014/main" val="3538391634"/>
                    </a:ext>
                  </a:extLst>
                </a:gridCol>
              </a:tblGrid>
              <a:tr h="45038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ITEM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213445"/>
                  </a:ext>
                </a:extLst>
              </a:tr>
              <a:tr h="45038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Test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70874"/>
                  </a:ext>
                </a:extLst>
              </a:tr>
              <a:tr h="56298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Test patterns also in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903745"/>
                  </a:ext>
                </a:extLst>
              </a:tr>
              <a:tr h="45038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Pattern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37.13%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9193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98" y="864914"/>
            <a:ext cx="10300447" cy="462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MODEL EVALUATION METRICS AND RANDOM FOREST CONFIGURATION</a:t>
            </a:r>
            <a:endParaRPr lang="en-US" sz="28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0346" y="2669183"/>
            <a:ext cx="2756647" cy="7598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EVALUATION METRICS USED FOR EVERY FINAL MODEL:</a:t>
            </a:r>
          </a:p>
          <a:p>
            <a:pPr marL="0" indent="0" algn="l"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Book Antiqua" panose="02040602050305030304" pitchFamily="18" charset="0"/>
              </a:rPr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Book Antiqua" panose="02040602050305030304" pitchFamily="18" charset="0"/>
              </a:rPr>
              <a:t>Macro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Book Antiqua" panose="02040602050305030304" pitchFamily="18" charset="0"/>
              </a:rPr>
              <a:t>Macro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Book Antiqua" panose="02040602050305030304" pitchFamily="18" charset="0"/>
              </a:rPr>
              <a:t>Macro F1 -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Book Antiqua" panose="02040602050305030304" pitchFamily="18" charset="0"/>
              </a:rPr>
              <a:t>Weighted F1 - score</a:t>
            </a:r>
          </a:p>
        </p:txBody>
      </p:sp>
      <p:sp>
        <p:nvSpPr>
          <p:cNvPr id="19" name="Text 17"/>
          <p:cNvSpPr/>
          <p:nvPr/>
        </p:nvSpPr>
        <p:spPr>
          <a:xfrm>
            <a:off x="7254240" y="187946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BINARY RANDOM FOREST BEST CONFIGURATION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9DB3D42-6831-080C-6CA3-07B5213BE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763494"/>
              </p:ext>
            </p:extLst>
          </p:nvPr>
        </p:nvGraphicFramePr>
        <p:xfrm>
          <a:off x="7833360" y="2426492"/>
          <a:ext cx="3779520" cy="236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372723142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3592441110"/>
                    </a:ext>
                  </a:extLst>
                </a:gridCol>
              </a:tblGrid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SELECTED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45537"/>
                  </a:ext>
                </a:extLst>
              </a:tr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n_estimators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261612"/>
                  </a:ext>
                </a:extLst>
              </a:tr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max_depth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07332"/>
                  </a:ext>
                </a:extLst>
              </a:tr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min_samples_split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388371"/>
                  </a:ext>
                </a:extLst>
              </a:tr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min_samples_leaf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46772"/>
                  </a:ext>
                </a:extLst>
              </a:tr>
              <a:tr h="3946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Book Antiqua" panose="02040602050305030304" pitchFamily="18" charset="0"/>
                        </a:rPr>
                        <a:t>class_weight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96132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8A178C8D-C0B0-FB71-5F15-905A4A527CAC}"/>
              </a:ext>
            </a:extLst>
          </p:cNvPr>
          <p:cNvSpPr/>
          <p:nvPr/>
        </p:nvSpPr>
        <p:spPr>
          <a:xfrm>
            <a:off x="164053" y="5464885"/>
            <a:ext cx="2052022" cy="618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Training data (1168 observations)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410D37E-598C-1864-1798-A9FE3702008D}"/>
              </a:ext>
            </a:extLst>
          </p:cNvPr>
          <p:cNvSpPr/>
          <p:nvPr/>
        </p:nvSpPr>
        <p:spPr>
          <a:xfrm>
            <a:off x="2645483" y="5464885"/>
            <a:ext cx="2052022" cy="618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5 –fold stratified CV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D42591-6480-6561-5598-1C4D523A98A4}"/>
              </a:ext>
            </a:extLst>
          </p:cNvPr>
          <p:cNvSpPr/>
          <p:nvPr/>
        </p:nvSpPr>
        <p:spPr>
          <a:xfrm>
            <a:off x="10018955" y="5464885"/>
            <a:ext cx="2052022" cy="618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Real test set (501 observations)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0A4B40-EB8C-E263-3CED-F55A24749DBD}"/>
              </a:ext>
            </a:extLst>
          </p:cNvPr>
          <p:cNvSpPr/>
          <p:nvPr/>
        </p:nvSpPr>
        <p:spPr>
          <a:xfrm>
            <a:off x="7618207" y="5464885"/>
            <a:ext cx="2052022" cy="618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Book Antiqua" panose="02040602050305030304" pitchFamily="18" charset="0"/>
              </a:rPr>
              <a:t>Best model by Macro F1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18E6B2-D02A-DE66-8918-4FCCDD87BCD1}"/>
              </a:ext>
            </a:extLst>
          </p:cNvPr>
          <p:cNvSpPr/>
          <p:nvPr/>
        </p:nvSpPr>
        <p:spPr>
          <a:xfrm>
            <a:off x="5126913" y="5464885"/>
            <a:ext cx="2052022" cy="618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Book Antiqua" panose="02040602050305030304" pitchFamily="18" charset="0"/>
              </a:rPr>
              <a:t>GridSearchCV</a:t>
            </a:r>
            <a:r>
              <a:rPr lang="en-IN" sz="1400" dirty="0">
                <a:latin typeface="Book Antiqua" panose="02040602050305030304" pitchFamily="18" charset="0"/>
              </a:rPr>
              <a:t> parameter test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C740274-17B2-08E4-7CBF-A7401860C494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2216075" y="5774167"/>
            <a:ext cx="429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D24E236-2B31-33CE-1BAA-9FA3A2B71C46}"/>
              </a:ext>
            </a:extLst>
          </p:cNvPr>
          <p:cNvCxnSpPr>
            <a:stCxn id="54" idx="3"/>
            <a:endCxn id="60" idx="1"/>
          </p:cNvCxnSpPr>
          <p:nvPr/>
        </p:nvCxnSpPr>
        <p:spPr>
          <a:xfrm>
            <a:off x="4697505" y="5774167"/>
            <a:ext cx="429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BB50D8-7D03-1683-443F-1FDACD35E705}"/>
              </a:ext>
            </a:extLst>
          </p:cNvPr>
          <p:cNvCxnSpPr>
            <a:stCxn id="60" idx="3"/>
            <a:endCxn id="58" idx="1"/>
          </p:cNvCxnSpPr>
          <p:nvPr/>
        </p:nvCxnSpPr>
        <p:spPr>
          <a:xfrm>
            <a:off x="7178935" y="5774167"/>
            <a:ext cx="439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25390D5-F924-0D9B-9144-AD3B59BAD8D9}"/>
              </a:ext>
            </a:extLst>
          </p:cNvPr>
          <p:cNvCxnSpPr>
            <a:stCxn id="58" idx="3"/>
            <a:endCxn id="56" idx="1"/>
          </p:cNvCxnSpPr>
          <p:nvPr/>
        </p:nvCxnSpPr>
        <p:spPr>
          <a:xfrm>
            <a:off x="9670229" y="5774167"/>
            <a:ext cx="348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83F26D7-3514-ABD2-2BBF-68A35A94261C}"/>
              </a:ext>
            </a:extLst>
          </p:cNvPr>
          <p:cNvSpPr txBox="1"/>
          <p:nvPr/>
        </p:nvSpPr>
        <p:spPr>
          <a:xfrm>
            <a:off x="508298" y="4817050"/>
            <a:ext cx="3049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OPTIMIZATION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9969" y="585657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DATAGEN-1 : BALANCING THE TRAINING DATASET</a:t>
            </a:r>
            <a:endParaRPr lang="en-US" sz="2800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5834" y="1362897"/>
            <a:ext cx="6427695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94B"/>
                </a:solidFill>
                <a:latin typeface="Book Antiqua" panose="02040602050305030304" pitchFamily="18" charset="0"/>
              </a:rPr>
              <a:t>STARTING POINT – REAL IMBALANCED TRAINING DATASET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5834" y="3022092"/>
            <a:ext cx="22295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u="sng" dirty="0">
                <a:solidFill>
                  <a:schemeClr val="tx2">
                    <a:lumMod val="50000"/>
                  </a:schemeClr>
                </a:solidFill>
                <a:latin typeface="Book Antiqua" panose="02040602050305030304" pitchFamily="18" charset="0"/>
              </a:rPr>
              <a:t>BEFORE DATAGEN-1</a:t>
            </a:r>
            <a:endParaRPr lang="en-US" sz="1600" u="sng" dirty="0">
              <a:solidFill>
                <a:schemeClr val="tx2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52501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IDU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28800" y="3570732"/>
            <a:ext cx="2499645" cy="173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9644" y="35158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360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84505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ODU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28800" y="3890772"/>
            <a:ext cx="2971800" cy="1737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9644" y="387786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428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16509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Cable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8800" y="4210812"/>
            <a:ext cx="1006801" cy="1737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187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145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448513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Power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0" y="4530852"/>
            <a:ext cx="1631713" cy="17373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416552"/>
            <a:ext cx="668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235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73414" y="3003804"/>
            <a:ext cx="3049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u="sng" dirty="0">
                <a:solidFill>
                  <a:schemeClr val="tx2">
                    <a:lumMod val="50000"/>
                  </a:schemeClr>
                </a:solidFill>
                <a:latin typeface="Book Antiqua" panose="02040602050305030304" pitchFamily="18" charset="0"/>
              </a:rPr>
              <a:t>TARGET AFTER DATAGEN-1</a:t>
            </a:r>
            <a:endParaRPr lang="en-US" sz="1600" u="sng" dirty="0">
              <a:solidFill>
                <a:schemeClr val="tx2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4512" y="3470148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IDU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50392" y="3515868"/>
            <a:ext cx="2971800" cy="17373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31920" y="34975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428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4512" y="3790188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ODU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850392" y="3835908"/>
            <a:ext cx="2971800" cy="17373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31920" y="38176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428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4512" y="4110228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Cable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50392" y="4155948"/>
            <a:ext cx="2971800" cy="17373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31920" y="41376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428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24512" y="4430268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2A33"/>
                </a:solidFill>
                <a:latin typeface="Book Antiqua" panose="02040602050305030304" pitchFamily="18" charset="0"/>
              </a:rPr>
              <a:t>Power</a:t>
            </a:r>
            <a:endParaRPr lang="en-US" sz="920" dirty="0">
              <a:latin typeface="Book Antiqua" panose="0204060205030503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850392" y="4475988"/>
            <a:ext cx="2971800" cy="17373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31920" y="44577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A33"/>
                </a:solidFill>
                <a:latin typeface="Book Antiqua" panose="02040602050305030304" pitchFamily="18" charset="0"/>
              </a:rPr>
              <a:t>428</a:t>
            </a:r>
            <a:endParaRPr lang="en-US" sz="900" dirty="0">
              <a:latin typeface="Book Antiqua" panose="0204060205030503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107D87-E614-3FF3-5802-7FB4BEBDEE92}"/>
              </a:ext>
            </a:extLst>
          </p:cNvPr>
          <p:cNvSpPr txBox="1"/>
          <p:nvPr/>
        </p:nvSpPr>
        <p:spPr>
          <a:xfrm>
            <a:off x="1016597" y="1966401"/>
            <a:ext cx="965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2A33"/>
                </a:solidFill>
                <a:latin typeface="Book Antiqua" panose="02040602050305030304" pitchFamily="18" charset="0"/>
              </a:rPr>
              <a:t>After the 70/30 split, only the training data is used for data generation. The test set remains real and unchanged</a:t>
            </a:r>
            <a:r>
              <a:rPr lang="en-US" sz="1400" dirty="0">
                <a:solidFill>
                  <a:srgbClr val="202A33"/>
                </a:solidFill>
                <a:latin typeface="Book Antiqua" panose="02040602050305030304" pitchFamily="18" charset="0"/>
              </a:rPr>
              <a:t>.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0812" y="324612"/>
            <a:ext cx="7490375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SYNTHETIC TRAINING DATA CREATION</a:t>
            </a:r>
            <a:endParaRPr lang="en-US" sz="2800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54890" y="11109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u="sng" dirty="0">
                <a:solidFill>
                  <a:srgbClr val="13294B"/>
                </a:solidFill>
                <a:latin typeface="Book Antiqua" panose="02040602050305030304" pitchFamily="18" charset="0"/>
              </a:rPr>
              <a:t>GENERATION</a:t>
            </a:r>
            <a:r>
              <a:rPr lang="en-US" sz="1350" b="1" dirty="0">
                <a:solidFill>
                  <a:srgbClr val="13294B"/>
                </a:solidFill>
                <a:latin typeface="Book Antiqua" panose="02040602050305030304" pitchFamily="18" charset="0"/>
              </a:rPr>
              <a:t> </a:t>
            </a:r>
            <a:r>
              <a:rPr lang="en-US" sz="1350" b="1" u="sng" dirty="0">
                <a:solidFill>
                  <a:srgbClr val="13294B"/>
                </a:solidFill>
                <a:latin typeface="Book Antiqua" panose="02040602050305030304" pitchFamily="18" charset="0"/>
              </a:rPr>
              <a:t>WORKFLOW</a:t>
            </a:r>
            <a:endParaRPr lang="en-US" sz="1350" u="sng" dirty="0">
              <a:latin typeface="Book Antiqua" panose="0204060205030503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0160">
            <a:solidFill>
              <a:srgbClr val="1D6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Book Antiqua" panose="02040602050305030304" pitchFamily="18" charset="0"/>
              </a:rPr>
              <a:t>Real training set</a:t>
            </a:r>
            <a:endParaRPr lang="en-US" sz="12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048256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1,168 observations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Class counts: 360 / 428 / 145 / 235</a:t>
            </a:r>
          </a:p>
        </p:txBody>
      </p:sp>
      <p:sp>
        <p:nvSpPr>
          <p:cNvPr id="10" name="Shape 8"/>
          <p:cNvSpPr/>
          <p:nvPr/>
        </p:nvSpPr>
        <p:spPr>
          <a:xfrm>
            <a:off x="3337560" y="1664208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739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Book Antiqua" panose="02040602050305030304" pitchFamily="18" charset="0"/>
              </a:rPr>
              <a:t>Choose generator</a:t>
            </a:r>
            <a:endParaRPr lang="en-US" sz="12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048256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SMOTEN or CVAE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Generate missing rows per class</a:t>
            </a:r>
          </a:p>
        </p:txBody>
      </p:sp>
      <p:sp>
        <p:nvSpPr>
          <p:cNvPr id="14" name="Shape 12"/>
          <p:cNvSpPr/>
          <p:nvPr/>
        </p:nvSpPr>
        <p:spPr>
          <a:xfrm>
            <a:off x="6199632" y="1664208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Book Antiqua" panose="02040602050305030304" pitchFamily="18" charset="0"/>
              </a:rPr>
              <a:t>Mixed train set</a:t>
            </a:r>
            <a:endParaRPr lang="en-US" sz="12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6792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Real + synthetic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1,712 total observations</a:t>
            </a:r>
          </a:p>
        </p:txBody>
      </p:sp>
      <p:sp>
        <p:nvSpPr>
          <p:cNvPr id="18" name="Shape 16"/>
          <p:cNvSpPr/>
          <p:nvPr/>
        </p:nvSpPr>
        <p:spPr>
          <a:xfrm>
            <a:off x="9034272" y="1664208"/>
            <a:ext cx="23317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0160">
            <a:solidFill>
              <a:srgbClr val="A61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7739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Book Antiqua" panose="02040602050305030304" pitchFamily="18" charset="0"/>
              </a:rPr>
              <a:t>Real test set</a:t>
            </a:r>
            <a:endParaRPr lang="en-US" sz="12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71432" y="2048256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501 unchanged real observations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Book Antiqua" panose="02040602050305030304" pitchFamily="18" charset="0"/>
              </a:rPr>
              <a:t>Used only for final scoring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1B3E267-FC90-7E1C-CE0E-90A32050F2F9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606040" y="2121408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4AC4687-D992-9F7F-92EB-5B7C25772C2A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5486400" y="2121408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220940-024B-9450-697F-E43F04969A4F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8302752" y="2121408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13495A-FE3C-CDFD-5A9D-FD85869FD903}"/>
              </a:ext>
            </a:extLst>
          </p:cNvPr>
          <p:cNvSpPr txBox="1"/>
          <p:nvPr/>
        </p:nvSpPr>
        <p:spPr>
          <a:xfrm>
            <a:off x="833718" y="3422720"/>
            <a:ext cx="427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SYNTHETIC METHOD 1 - SMOTEN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8ECEAD-B89A-5669-EB9E-7B8AA9764275}"/>
              </a:ext>
            </a:extLst>
          </p:cNvPr>
          <p:cNvCxnSpPr>
            <a:cxnSpLocks/>
          </p:cNvCxnSpPr>
          <p:nvPr/>
        </p:nvCxnSpPr>
        <p:spPr>
          <a:xfrm>
            <a:off x="5843016" y="3243412"/>
            <a:ext cx="0" cy="2156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1FAF342-9F70-D929-2F52-D32BF5C8D1A6}"/>
              </a:ext>
            </a:extLst>
          </p:cNvPr>
          <p:cNvSpPr txBox="1"/>
          <p:nvPr/>
        </p:nvSpPr>
        <p:spPr>
          <a:xfrm>
            <a:off x="6875365" y="3422720"/>
            <a:ext cx="413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SYNTHETIC METHOD 2 - CVAE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9A209F-2BC9-DC06-C7C6-6A31D4FFA23F}"/>
              </a:ext>
            </a:extLst>
          </p:cNvPr>
          <p:cNvSpPr txBox="1"/>
          <p:nvPr/>
        </p:nvSpPr>
        <p:spPr>
          <a:xfrm>
            <a:off x="833718" y="4163210"/>
            <a:ext cx="41416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Nearest Neighbour idea – SMOTEN creates new discrete samples by looking at nearest observations from the same minority class. It preserves valid binary/categorical values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163878-B066-213D-FF59-77621D525F85}"/>
              </a:ext>
            </a:extLst>
          </p:cNvPr>
          <p:cNvSpPr txBox="1"/>
          <p:nvPr/>
        </p:nvSpPr>
        <p:spPr>
          <a:xfrm>
            <a:off x="6749450" y="4163210"/>
            <a:ext cx="41416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Class-conditioned generator – The CVAE learns alarm patterns using an encoder-decoder neural network. The requested class labels guides the generator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05F67C-6DEB-197F-CE53-A9827F8B8DD9}"/>
              </a:ext>
            </a:extLst>
          </p:cNvPr>
          <p:cNvSpPr txBox="1"/>
          <p:nvPr/>
        </p:nvSpPr>
        <p:spPr>
          <a:xfrm>
            <a:off x="2468880" y="5702391"/>
            <a:ext cx="6979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Book Antiqua" panose="02040602050305030304" pitchFamily="18" charset="0"/>
              </a:rPr>
              <a:t>We chose SMOTEN instead of SMOTE because our feature values are discrete : binary (0,1) and categorical (0,1,2,3). SMOTEN keeps generated values inside these valid categories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754925" y="422489"/>
            <a:ext cx="6361026" cy="60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RANDOM FOREST BASELINE OUTPUTS</a:t>
            </a:r>
            <a:endParaRPr lang="en-US" sz="25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42942" y="1091017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We first trained Random Forest using real training data only.</a:t>
            </a:r>
          </a:p>
        </p:txBody>
      </p:sp>
      <p:pic>
        <p:nvPicPr>
          <p:cNvPr id="7" name="Image 0" descr="/mnt/data/nb_images/cell057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21" y="1623100"/>
            <a:ext cx="4626378" cy="3794760"/>
          </a:xfrm>
          <a:prstGeom prst="rect">
            <a:avLst/>
          </a:prstGeom>
        </p:spPr>
      </p:pic>
      <p:pic>
        <p:nvPicPr>
          <p:cNvPr id="8" name="Image 1" descr="/mnt/data/nb_images/cell061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019" y="1597386"/>
            <a:ext cx="4626378" cy="379476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8F95C3-7677-72D3-BC4D-BF86D4DE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48612"/>
              </p:ext>
            </p:extLst>
          </p:nvPr>
        </p:nvGraphicFramePr>
        <p:xfrm>
          <a:off x="2031847" y="5482804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650828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650448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6084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5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35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4403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985323" y="3345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DataGen-1 SMOTEN WITH RANDOM FOREST</a:t>
            </a:r>
            <a:endParaRPr lang="en-US" sz="25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97787" y="1057257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Both binary and categorical DataGen-1 SMOTEN experiments were evaluated</a:t>
            </a:r>
            <a:r>
              <a:rPr lang="en-US" sz="1150" dirty="0">
                <a:latin typeface="Book Antiqua" panose="02040602050305030304" pitchFamily="18" charset="0"/>
              </a:rPr>
              <a:t>.</a:t>
            </a:r>
          </a:p>
        </p:txBody>
      </p:sp>
      <p:pic>
        <p:nvPicPr>
          <p:cNvPr id="7" name="Image 0" descr="/mnt/data/ppt25_assets/datagen1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75" y="1802469"/>
            <a:ext cx="4480560" cy="2316638"/>
          </a:xfrm>
          <a:prstGeom prst="rect">
            <a:avLst/>
          </a:prstGeom>
        </p:spPr>
      </p:pic>
      <p:pic>
        <p:nvPicPr>
          <p:cNvPr id="8" name="Image 1" descr="/mnt/data/nb_images/cell069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037" y="1901414"/>
            <a:ext cx="2877442" cy="2331720"/>
          </a:xfrm>
          <a:prstGeom prst="rect">
            <a:avLst/>
          </a:prstGeom>
        </p:spPr>
      </p:pic>
      <p:pic>
        <p:nvPicPr>
          <p:cNvPr id="9" name="Image 2" descr="/mnt/data/nb_images/cell073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927" y="1862226"/>
            <a:ext cx="2971800" cy="2324037"/>
          </a:xfrm>
          <a:prstGeom prst="rect">
            <a:avLst/>
          </a:prstGeom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E4A7F46-75E7-C580-2C60-CF380CF4B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78060"/>
              </p:ext>
            </p:extLst>
          </p:nvPr>
        </p:nvGraphicFramePr>
        <p:xfrm>
          <a:off x="2070847" y="4670656"/>
          <a:ext cx="7668050" cy="1737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352">
                  <a:extLst>
                    <a:ext uri="{9D8B030D-6E8A-4147-A177-3AD203B41FA5}">
                      <a16:colId xmlns:a16="http://schemas.microsoft.com/office/drawing/2014/main" val="3665259119"/>
                    </a:ext>
                  </a:extLst>
                </a:gridCol>
                <a:gridCol w="1898566">
                  <a:extLst>
                    <a:ext uri="{9D8B030D-6E8A-4147-A177-3AD203B41FA5}">
                      <a16:colId xmlns:a16="http://schemas.microsoft.com/office/drawing/2014/main" val="1608089121"/>
                    </a:ext>
                  </a:extLst>
                </a:gridCol>
                <a:gridCol w="1898566">
                  <a:extLst>
                    <a:ext uri="{9D8B030D-6E8A-4147-A177-3AD203B41FA5}">
                      <a16:colId xmlns:a16="http://schemas.microsoft.com/office/drawing/2014/main" val="1292142113"/>
                    </a:ext>
                  </a:extLst>
                </a:gridCol>
                <a:gridCol w="1898566">
                  <a:extLst>
                    <a:ext uri="{9D8B030D-6E8A-4147-A177-3AD203B41FA5}">
                      <a16:colId xmlns:a16="http://schemas.microsoft.com/office/drawing/2014/main" val="1506602375"/>
                    </a:ext>
                  </a:extLst>
                </a:gridCol>
              </a:tblGrid>
              <a:tr h="40794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DataGen-1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14808"/>
                  </a:ext>
                </a:extLst>
              </a:tr>
              <a:tr h="29310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Binary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30248"/>
                  </a:ext>
                </a:extLst>
              </a:tr>
              <a:tr h="33103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Binary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+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691723"/>
                  </a:ext>
                </a:extLst>
              </a:tr>
              <a:tr h="32810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Categorical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854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Categorical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+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039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90657" y="423625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DataGen-2 SMOTEN WITH RANDOM FOREST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58691" y="12002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Both binary and categorical DataGen-2 SMOTEN experiments were evaluated after reducing Class 2</a:t>
            </a:r>
            <a:r>
              <a:rPr lang="en-US" sz="1150" dirty="0">
                <a:latin typeface="Book Antiqua" panose="02040602050305030304" pitchFamily="18" charset="0"/>
              </a:rPr>
              <a:t>.</a:t>
            </a:r>
          </a:p>
        </p:txBody>
      </p:sp>
      <p:pic>
        <p:nvPicPr>
          <p:cNvPr id="7" name="Image 0" descr="/mnt/data/ppt25_assets/datagen2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12" y="1857127"/>
            <a:ext cx="4480560" cy="2316638"/>
          </a:xfrm>
          <a:prstGeom prst="rect">
            <a:avLst/>
          </a:prstGeom>
        </p:spPr>
      </p:pic>
      <p:pic>
        <p:nvPicPr>
          <p:cNvPr id="8" name="Image 1" descr="/mnt/data/nb_images/cell087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932" y="1895056"/>
            <a:ext cx="2877442" cy="2331720"/>
          </a:xfrm>
          <a:prstGeom prst="rect">
            <a:avLst/>
          </a:prstGeom>
        </p:spPr>
      </p:pic>
      <p:pic>
        <p:nvPicPr>
          <p:cNvPr id="9" name="Image 2" descr="/mnt/data/nb_images/cell091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898897"/>
            <a:ext cx="2971800" cy="2324037"/>
          </a:xfrm>
          <a:prstGeom prst="rect">
            <a:avLst/>
          </a:prstGeom>
        </p:spPr>
      </p:pic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E085A58-1991-10FC-3153-4B4718A61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56846"/>
              </p:ext>
            </p:extLst>
          </p:nvPr>
        </p:nvGraphicFramePr>
        <p:xfrm>
          <a:off x="1782926" y="4629005"/>
          <a:ext cx="7872445" cy="190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926">
                  <a:extLst>
                    <a:ext uri="{9D8B030D-6E8A-4147-A177-3AD203B41FA5}">
                      <a16:colId xmlns:a16="http://schemas.microsoft.com/office/drawing/2014/main" val="3665259119"/>
                    </a:ext>
                  </a:extLst>
                </a:gridCol>
                <a:gridCol w="1949173">
                  <a:extLst>
                    <a:ext uri="{9D8B030D-6E8A-4147-A177-3AD203B41FA5}">
                      <a16:colId xmlns:a16="http://schemas.microsoft.com/office/drawing/2014/main" val="1608089121"/>
                    </a:ext>
                  </a:extLst>
                </a:gridCol>
                <a:gridCol w="1949173">
                  <a:extLst>
                    <a:ext uri="{9D8B030D-6E8A-4147-A177-3AD203B41FA5}">
                      <a16:colId xmlns:a16="http://schemas.microsoft.com/office/drawing/2014/main" val="1292142113"/>
                    </a:ext>
                  </a:extLst>
                </a:gridCol>
                <a:gridCol w="1949173">
                  <a:extLst>
                    <a:ext uri="{9D8B030D-6E8A-4147-A177-3AD203B41FA5}">
                      <a16:colId xmlns:a16="http://schemas.microsoft.com/office/drawing/2014/main" val="1506602375"/>
                    </a:ext>
                  </a:extLst>
                </a:gridCol>
              </a:tblGrid>
              <a:tr h="47339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DataGen-2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14808"/>
                  </a:ext>
                </a:extLst>
              </a:tr>
              <a:tr h="337611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Binary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Reduced real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0.8889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30248"/>
                  </a:ext>
                </a:extLst>
              </a:tr>
              <a:tr h="35836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Binary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+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691723"/>
                  </a:ext>
                </a:extLst>
              </a:tr>
              <a:tr h="37113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Categorical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Reduced real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85471"/>
                  </a:ext>
                </a:extLst>
              </a:tr>
              <a:tr h="36363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Categorical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Real +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039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318196" y="309753"/>
            <a:ext cx="5555608" cy="60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CVAE INPUT PREPARATION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826" y="1200015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Before building the generator, the notebook prepared TensorFlow inputs for binary and categorical data.</a:t>
            </a:r>
          </a:p>
        </p:txBody>
      </p:sp>
      <p:sp>
        <p:nvSpPr>
          <p:cNvPr id="7" name="Text 5"/>
          <p:cNvSpPr/>
          <p:nvPr/>
        </p:nvSpPr>
        <p:spPr>
          <a:xfrm>
            <a:off x="335280" y="2206931"/>
            <a:ext cx="1975104" cy="749808"/>
          </a:xfrm>
          <a:prstGeom prst="rect">
            <a:avLst/>
          </a:prstGeom>
          <a:solidFill>
            <a:schemeClr val="accent3"/>
          </a:solidFill>
          <a:ln>
            <a:solidFill>
              <a:srgbClr val="D8C6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Training features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9464" y="245704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50372" y="2191870"/>
            <a:ext cx="1975104" cy="749808"/>
          </a:xfrm>
          <a:prstGeom prst="rect">
            <a:avLst/>
          </a:prstGeom>
          <a:solidFill>
            <a:schemeClr val="accent3"/>
          </a:solidFill>
          <a:ln>
            <a:solidFill>
              <a:srgbClr val="D8C6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Convert to NumPy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float32 arrays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09702" y="2191870"/>
            <a:ext cx="1975104" cy="749808"/>
          </a:xfrm>
          <a:prstGeom prst="rect">
            <a:avLst/>
          </a:prstGeom>
          <a:solidFill>
            <a:schemeClr val="accent3"/>
          </a:solidFill>
          <a:ln>
            <a:solidFill>
              <a:srgbClr val="D8C6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Failure labels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66524" y="2206931"/>
            <a:ext cx="1975104" cy="749808"/>
          </a:xfrm>
          <a:prstGeom prst="rect">
            <a:avLst/>
          </a:prstGeom>
          <a:solidFill>
            <a:schemeClr val="accent3"/>
          </a:solidFill>
          <a:ln>
            <a:solidFill>
              <a:srgbClr val="D8C6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One-hot class vectors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3346" y="2191870"/>
            <a:ext cx="1975104" cy="749808"/>
          </a:xfrm>
          <a:prstGeom prst="rect">
            <a:avLst/>
          </a:prstGeom>
          <a:solidFill>
            <a:schemeClr val="accent3"/>
          </a:solidFill>
          <a:ln>
            <a:solidFill>
              <a:srgbClr val="D8C6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Ready for CVAE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67FE44-8F21-2F16-0C51-9E7754C5CFE0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2310384" y="2566774"/>
            <a:ext cx="439988" cy="1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E10EF34-2608-9768-C5D4-EF357063C9E6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4725476" y="2566774"/>
            <a:ext cx="3842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BDE518-35B7-F1E6-0A1D-36D277AEA49A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7084806" y="2566774"/>
            <a:ext cx="381718" cy="1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1AAB40-BD8A-202C-A6E9-184AC3A24FAE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9441628" y="2566774"/>
            <a:ext cx="381718" cy="1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D616AB-C652-FD84-474D-11A5014986C7}"/>
              </a:ext>
            </a:extLst>
          </p:cNvPr>
          <p:cNvSpPr txBox="1"/>
          <p:nvPr/>
        </p:nvSpPr>
        <p:spPr>
          <a:xfrm>
            <a:off x="1371241" y="3546991"/>
            <a:ext cx="473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INPUTS PREPARED 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C84CAF-1F57-80D6-CD6F-B9701F361115}"/>
              </a:ext>
            </a:extLst>
          </p:cNvPr>
          <p:cNvSpPr txBox="1"/>
          <p:nvPr/>
        </p:nvSpPr>
        <p:spPr>
          <a:xfrm>
            <a:off x="503816" y="4135248"/>
            <a:ext cx="5715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Binary alarm matrix (Used by the binary CVAE)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Categorical alarm matrix (Used by the categorical CVAE)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Class Labels (Tells the CVAE which failure class each row belongs 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One-hot encoding (Represents IDU, ODU, Cable and Power as neural network inputs)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Separate DG1/DG2 inputs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2552DC-6088-DA7B-35F7-0DBE74966FE7}"/>
              </a:ext>
            </a:extLst>
          </p:cNvPr>
          <p:cNvSpPr/>
          <p:nvPr/>
        </p:nvSpPr>
        <p:spPr>
          <a:xfrm>
            <a:off x="7900505" y="4194416"/>
            <a:ext cx="3463963" cy="1259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The CVAE is not just given alarm values. It also receives the failure class, so it can learn class-specific alarm patterns.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530276" y="494853"/>
            <a:ext cx="9824421" cy="386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CVAE ARCHITECTURE AND SAMPLE GENERATION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540098-9084-8F66-EE78-93BB24B00F5B}"/>
              </a:ext>
            </a:extLst>
          </p:cNvPr>
          <p:cNvSpPr/>
          <p:nvPr/>
        </p:nvSpPr>
        <p:spPr>
          <a:xfrm>
            <a:off x="446443" y="1828799"/>
            <a:ext cx="1721224" cy="828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Real alarm row + class label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4AB45A-C3A2-C1B9-C451-13E7E86CED83}"/>
              </a:ext>
            </a:extLst>
          </p:cNvPr>
          <p:cNvSpPr/>
          <p:nvPr/>
        </p:nvSpPr>
        <p:spPr>
          <a:xfrm>
            <a:off x="10022991" y="1828799"/>
            <a:ext cx="1721224" cy="828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Synthetic alarm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7AA88D-D163-B4F6-5ECB-3BA1C6B63639}"/>
              </a:ext>
            </a:extLst>
          </p:cNvPr>
          <p:cNvSpPr/>
          <p:nvPr/>
        </p:nvSpPr>
        <p:spPr>
          <a:xfrm>
            <a:off x="2815367" y="1828799"/>
            <a:ext cx="1721224" cy="828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Encoder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6FA155-B459-07DE-674F-2339E7E984F3}"/>
              </a:ext>
            </a:extLst>
          </p:cNvPr>
          <p:cNvSpPr/>
          <p:nvPr/>
        </p:nvSpPr>
        <p:spPr>
          <a:xfrm>
            <a:off x="5236280" y="1828799"/>
            <a:ext cx="1721224" cy="828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Latent vector z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31017C-F004-AC47-6526-86F20532CC29}"/>
              </a:ext>
            </a:extLst>
          </p:cNvPr>
          <p:cNvSpPr/>
          <p:nvPr/>
        </p:nvSpPr>
        <p:spPr>
          <a:xfrm>
            <a:off x="7654067" y="1828799"/>
            <a:ext cx="1721224" cy="828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Decoder + class label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421817-7DDA-285F-29B0-A68FB5921F2D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>
            <a:off x="2167667" y="2242969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50C0FA-544F-1FD5-A655-F14C2A468E9F}"/>
              </a:ext>
            </a:extLst>
          </p:cNvPr>
          <p:cNvCxnSpPr>
            <a:stCxn id="36" idx="3"/>
            <a:endCxn id="38" idx="1"/>
          </p:cNvCxnSpPr>
          <p:nvPr/>
        </p:nvCxnSpPr>
        <p:spPr>
          <a:xfrm>
            <a:off x="4536591" y="2242969"/>
            <a:ext cx="699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35D520-7EA1-EA14-9F35-76440579F1BC}"/>
              </a:ext>
            </a:extLst>
          </p:cNvPr>
          <p:cNvCxnSpPr>
            <a:stCxn id="38" idx="3"/>
            <a:endCxn id="40" idx="1"/>
          </p:cNvCxnSpPr>
          <p:nvPr/>
        </p:nvCxnSpPr>
        <p:spPr>
          <a:xfrm>
            <a:off x="6957504" y="2242969"/>
            <a:ext cx="69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4CCC9DA-B8AE-C8B3-75EB-2FF0CC47F01A}"/>
              </a:ext>
            </a:extLst>
          </p:cNvPr>
          <p:cNvCxnSpPr>
            <a:stCxn id="40" idx="3"/>
            <a:endCxn id="34" idx="1"/>
          </p:cNvCxnSpPr>
          <p:nvPr/>
        </p:nvCxnSpPr>
        <p:spPr>
          <a:xfrm>
            <a:off x="9375291" y="2242969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90FB812-A7DB-6122-1FFB-D915A6557A1F}"/>
              </a:ext>
            </a:extLst>
          </p:cNvPr>
          <p:cNvSpPr txBox="1"/>
          <p:nvPr/>
        </p:nvSpPr>
        <p:spPr>
          <a:xfrm>
            <a:off x="747657" y="3511078"/>
            <a:ext cx="132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PARTS :</a:t>
            </a:r>
            <a:r>
              <a:rPr lang="en-IN" dirty="0">
                <a:latin typeface="Book Antiqua" panose="02040602050305030304" pitchFamily="18" charset="0"/>
              </a:rPr>
              <a:t>                 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804FB8-819B-259C-E7E9-DA0D49DB2766}"/>
              </a:ext>
            </a:extLst>
          </p:cNvPr>
          <p:cNvSpPr txBox="1"/>
          <p:nvPr/>
        </p:nvSpPr>
        <p:spPr>
          <a:xfrm>
            <a:off x="247426" y="4116731"/>
            <a:ext cx="10182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Encoder – Compresses the alarm pattern into a hidden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Sampling layer – Adds controlled randomness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Decoder – Rebuilds an alarm row from the hidden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Class condition – Guides the generator towards IDU, ODU, Cable or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 Antiqua" panose="02040602050305030304" pitchFamily="18" charset="0"/>
              </a:rPr>
              <a:t>Post processing – Rounds outputs to valid binary or categorical values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79898" y="29489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DataGen-1 CVAE WITH RANDOM FOREST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79222" y="106756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Both binary and categorical CVAE DataGen-1 outputs were evaluated with Random Forest.</a:t>
            </a:r>
          </a:p>
        </p:txBody>
      </p:sp>
      <p:pic>
        <p:nvPicPr>
          <p:cNvPr id="7" name="Image 0" descr="/mnt/data/nb_images/cell11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02" y="1723106"/>
            <a:ext cx="3790285" cy="3108960"/>
          </a:xfrm>
          <a:prstGeom prst="rect">
            <a:avLst/>
          </a:prstGeom>
        </p:spPr>
      </p:pic>
      <p:pic>
        <p:nvPicPr>
          <p:cNvPr id="8" name="Image 1" descr="/mnt/data/nb_images/cell117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611" y="1723106"/>
            <a:ext cx="3790285" cy="3108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9898" y="5284694"/>
            <a:ext cx="3954780" cy="32004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RF + CVAE DataGen-1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834678" y="5284694"/>
            <a:ext cx="1977390" cy="32004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812068" y="5284694"/>
            <a:ext cx="1977390" cy="32004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879898" y="5604734"/>
            <a:ext cx="3954780" cy="3200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834678" y="5604734"/>
            <a:ext cx="1977390" cy="3200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0.9521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812068" y="5604734"/>
            <a:ext cx="1977390" cy="3200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0.9450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879898" y="5924774"/>
            <a:ext cx="39547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834678" y="5924774"/>
            <a:ext cx="197739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0.9541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812068" y="5924774"/>
            <a:ext cx="197739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0.9490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74520" y="434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DataGen-2 CVAE WITH RANDOM FOREST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02080" y="12755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Both binary and categorical CVAE DataGen-2 outputs were evaluated after reducing Class 2</a:t>
            </a:r>
            <a:r>
              <a:rPr lang="en-US" sz="1150" dirty="0">
                <a:solidFill>
                  <a:srgbClr val="5F5F5F"/>
                </a:solidFill>
                <a:latin typeface="Book Antiqua" panose="02040602050305030304" pitchFamily="18" charset="0"/>
              </a:rPr>
              <a:t>.</a:t>
            </a:r>
            <a:endParaRPr lang="en-US" sz="1150" dirty="0">
              <a:latin typeface="Book Antiqua" panose="02040602050305030304" pitchFamily="18" charset="0"/>
            </a:endParaRPr>
          </a:p>
        </p:txBody>
      </p:sp>
      <p:pic>
        <p:nvPicPr>
          <p:cNvPr id="7" name="Image 0" descr="/mnt/data/nb_images/cell125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83" y="1874520"/>
            <a:ext cx="3790285" cy="3108960"/>
          </a:xfrm>
          <a:prstGeom prst="rect">
            <a:avLst/>
          </a:prstGeom>
        </p:spPr>
      </p:pic>
      <p:pic>
        <p:nvPicPr>
          <p:cNvPr id="8" name="Image 1" descr="/mnt/data/nb_images/cell131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966" y="1874520"/>
            <a:ext cx="3790285" cy="3108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9517" y="5289804"/>
            <a:ext cx="2848262" cy="40637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RF DataGen-2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971305" y="5289804"/>
            <a:ext cx="2183667" cy="40637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BASE 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73008" y="5289804"/>
            <a:ext cx="2183667" cy="40637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CVAE 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374712" y="5289804"/>
            <a:ext cx="1898841" cy="40637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99517" y="5609844"/>
            <a:ext cx="2848262" cy="40637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971305" y="5609844"/>
            <a:ext cx="2183667" cy="40637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0.8889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173008" y="5609844"/>
            <a:ext cx="2183667" cy="40637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0.9088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374712" y="5609844"/>
            <a:ext cx="1898841" cy="40637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Improved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99517" y="5929884"/>
            <a:ext cx="2848262" cy="406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971305" y="5929884"/>
            <a:ext cx="2183667" cy="406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0.9013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173008" y="5929884"/>
            <a:ext cx="2183667" cy="406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0.9180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374712" y="5929884"/>
            <a:ext cx="1898841" cy="406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Improved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020274" y="255165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CVAE Training Histories</a:t>
            </a:r>
            <a:endParaRPr lang="en-US" sz="25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95821" y="101895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The notebook plotted training and validation losses for all four CVAEs</a:t>
            </a:r>
            <a:r>
              <a:rPr lang="en-US" sz="1150" dirty="0">
                <a:latin typeface="Book Antiqua" panose="02040602050305030304" pitchFamily="18" charset="0"/>
              </a:rPr>
              <a:t>.</a:t>
            </a:r>
          </a:p>
        </p:txBody>
      </p:sp>
      <p:pic>
        <p:nvPicPr>
          <p:cNvPr id="7" name="Image 0" descr="/mnt/data/nb_images/cell133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46" y="1521878"/>
            <a:ext cx="3681805" cy="2289447"/>
          </a:xfrm>
          <a:prstGeom prst="rect">
            <a:avLst/>
          </a:prstGeom>
        </p:spPr>
      </p:pic>
      <p:pic>
        <p:nvPicPr>
          <p:cNvPr id="8" name="Image 1" descr="/mnt/data/nb_images/cell133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342" y="1521877"/>
            <a:ext cx="3691150" cy="2289447"/>
          </a:xfrm>
          <a:prstGeom prst="rect">
            <a:avLst/>
          </a:prstGeom>
        </p:spPr>
      </p:pic>
      <p:pic>
        <p:nvPicPr>
          <p:cNvPr id="9" name="Image 2" descr="/mnt/data/nb_images/cell133_im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58" y="4053043"/>
            <a:ext cx="3775943" cy="2342040"/>
          </a:xfrm>
          <a:prstGeom prst="rect">
            <a:avLst/>
          </a:prstGeom>
        </p:spPr>
      </p:pic>
      <p:pic>
        <p:nvPicPr>
          <p:cNvPr id="10" name="Image 3" descr="/mnt/data/nb_images/cell133_im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11" y="4092606"/>
            <a:ext cx="3775944" cy="2342041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AE91E44A-6E5F-535D-3985-EC03697C8B5A}"/>
              </a:ext>
            </a:extLst>
          </p:cNvPr>
          <p:cNvSpPr/>
          <p:nvPr/>
        </p:nvSpPr>
        <p:spPr>
          <a:xfrm>
            <a:off x="4114801" y="2852390"/>
            <a:ext cx="2516380" cy="397495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CVAE model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7E801170-40D5-074A-7A8B-D86A6FC3D0FC}"/>
              </a:ext>
            </a:extLst>
          </p:cNvPr>
          <p:cNvSpPr/>
          <p:nvPr/>
        </p:nvSpPr>
        <p:spPr>
          <a:xfrm>
            <a:off x="6631181" y="2852390"/>
            <a:ext cx="1572738" cy="397495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Training time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676FD6A-4BAF-463F-D213-6A3E946194FC}"/>
              </a:ext>
            </a:extLst>
          </p:cNvPr>
          <p:cNvSpPr/>
          <p:nvPr/>
        </p:nvSpPr>
        <p:spPr>
          <a:xfrm>
            <a:off x="4114801" y="3181574"/>
            <a:ext cx="2516380" cy="397495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Binary DataGen-1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FC4734DB-3439-4686-33DB-AA125BA4F7CE}"/>
              </a:ext>
            </a:extLst>
          </p:cNvPr>
          <p:cNvSpPr/>
          <p:nvPr/>
        </p:nvSpPr>
        <p:spPr>
          <a:xfrm>
            <a:off x="6631181" y="3181574"/>
            <a:ext cx="1572738" cy="397495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17.26 s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2DE14A8-9623-A418-E995-50F073CE0C44}"/>
              </a:ext>
            </a:extLst>
          </p:cNvPr>
          <p:cNvSpPr/>
          <p:nvPr/>
        </p:nvSpPr>
        <p:spPr>
          <a:xfrm>
            <a:off x="4114801" y="3510758"/>
            <a:ext cx="2516380" cy="3974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Categorical DataGen-1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E30F7153-2FBE-D6DF-C601-981DEAE225C5}"/>
              </a:ext>
            </a:extLst>
          </p:cNvPr>
          <p:cNvSpPr/>
          <p:nvPr/>
        </p:nvSpPr>
        <p:spPr>
          <a:xfrm>
            <a:off x="6631181" y="3510758"/>
            <a:ext cx="1572738" cy="3974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37.78 s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E3090DB-DE6B-0784-DB73-A3B7380E3A04}"/>
              </a:ext>
            </a:extLst>
          </p:cNvPr>
          <p:cNvSpPr/>
          <p:nvPr/>
        </p:nvSpPr>
        <p:spPr>
          <a:xfrm>
            <a:off x="4114801" y="3839942"/>
            <a:ext cx="2516380" cy="397495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Binary DataGen-2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B821D322-F5C3-B5AD-27ED-EB3A62901595}"/>
              </a:ext>
            </a:extLst>
          </p:cNvPr>
          <p:cNvSpPr/>
          <p:nvPr/>
        </p:nvSpPr>
        <p:spPr>
          <a:xfrm>
            <a:off x="6631181" y="3839942"/>
            <a:ext cx="1572738" cy="397495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27.70 s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AEC88CFB-EF49-9517-D8CF-E9FE515E8196}"/>
              </a:ext>
            </a:extLst>
          </p:cNvPr>
          <p:cNvSpPr/>
          <p:nvPr/>
        </p:nvSpPr>
        <p:spPr>
          <a:xfrm>
            <a:off x="4114801" y="4169126"/>
            <a:ext cx="2516380" cy="3974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Categorical DataGen-2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F8CDBE8A-8CED-60DC-3902-7F0D1DA1D598}"/>
              </a:ext>
            </a:extLst>
          </p:cNvPr>
          <p:cNvSpPr/>
          <p:nvPr/>
        </p:nvSpPr>
        <p:spPr>
          <a:xfrm>
            <a:off x="6631181" y="4169126"/>
            <a:ext cx="1572738" cy="3974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36.86 s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315584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XGBoost</a:t>
            </a: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 TUNING AND BASELINE OUTPUTS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55901" y="987552"/>
            <a:ext cx="61509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Book Antiqua" panose="02040602050305030304" pitchFamily="18" charset="0"/>
              </a:rPr>
              <a:t>We optimized XGBoost and evaluated real-only baseline models</a:t>
            </a:r>
            <a:r>
              <a:rPr lang="en-US" sz="1150" dirty="0">
                <a:solidFill>
                  <a:srgbClr val="5F5F5F"/>
                </a:solidFill>
                <a:latin typeface="Book Antiqua" panose="02040602050305030304" pitchFamily="18" charset="0"/>
              </a:rPr>
              <a:t>.</a:t>
            </a:r>
            <a:endParaRPr lang="en-US" sz="1150" dirty="0">
              <a:latin typeface="Book Antiqua" panose="02040602050305030304" pitchFamily="18" charset="0"/>
            </a:endParaRPr>
          </a:p>
        </p:txBody>
      </p:sp>
      <p:pic>
        <p:nvPicPr>
          <p:cNvPr id="7" name="Image 0" descr="/mnt/data/nb_images/cell14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12" y="1601724"/>
            <a:ext cx="4626378" cy="3794760"/>
          </a:xfrm>
          <a:prstGeom prst="rect">
            <a:avLst/>
          </a:prstGeom>
        </p:spPr>
      </p:pic>
      <p:pic>
        <p:nvPicPr>
          <p:cNvPr id="8" name="Image 1" descr="/mnt/data/nb_images/cell146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63" y="1601724"/>
            <a:ext cx="4626378" cy="3794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01262" y="5580888"/>
            <a:ext cx="2194560" cy="25908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XGBoost</a:t>
            </a: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 BASELINE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995822" y="5580888"/>
            <a:ext cx="1828800" cy="25908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824622" y="5580888"/>
            <a:ext cx="1828800" cy="25908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801262" y="5839968"/>
            <a:ext cx="2194560" cy="2590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95822" y="5839968"/>
            <a:ext cx="1828800" cy="2590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0.9601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24622" y="5839968"/>
            <a:ext cx="1828800" cy="2590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0.9570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801262" y="6099048"/>
            <a:ext cx="2194560" cy="259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95822" y="6099048"/>
            <a:ext cx="1828800" cy="259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0.9701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824622" y="6099048"/>
            <a:ext cx="1828800" cy="259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0.9690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860988" y="277881"/>
            <a:ext cx="427078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XGBoost</a:t>
            </a: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 WITH SMOTEN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798" y="1041339"/>
            <a:ext cx="11169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Book Antiqua" panose="02040602050305030304" pitchFamily="18" charset="0"/>
              </a:rPr>
              <a:t>We evaluated SMOTEN-generated mixed training data using XGBoost</a:t>
            </a:r>
            <a:r>
              <a:rPr lang="en-US" sz="1150" dirty="0">
                <a:solidFill>
                  <a:srgbClr val="5F5F5F"/>
                </a:solidFill>
                <a:latin typeface="Book Antiqua" panose="02040602050305030304" pitchFamily="18" charset="0"/>
              </a:rPr>
              <a:t>.</a:t>
            </a:r>
            <a:endParaRPr lang="en-US" sz="1150" dirty="0">
              <a:latin typeface="Book Antiqua" panose="02040602050305030304" pitchFamily="18" charset="0"/>
            </a:endParaRPr>
          </a:p>
        </p:txBody>
      </p:sp>
      <p:pic>
        <p:nvPicPr>
          <p:cNvPr id="7" name="Image 0" descr="/mnt/data/nb_images/cell15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84" y="1600200"/>
            <a:ext cx="4616132" cy="3657600"/>
          </a:xfrm>
          <a:prstGeom prst="rect">
            <a:avLst/>
          </a:prstGeom>
        </p:spPr>
      </p:pic>
      <p:pic>
        <p:nvPicPr>
          <p:cNvPr id="8" name="Image 1" descr="/mnt/data/nb_images/cell154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1" y="1600200"/>
            <a:ext cx="4616132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63575" y="5392608"/>
            <a:ext cx="4432807" cy="26289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XGBoost + SMOTEN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17244" y="5392608"/>
            <a:ext cx="2327224" cy="26289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165330" y="5392608"/>
            <a:ext cx="2327224" cy="26289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563575" y="5655498"/>
            <a:ext cx="4432807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DG1 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17244" y="5655498"/>
            <a:ext cx="2327224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0.9641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65330" y="5655498"/>
            <a:ext cx="2327224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0.9624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563575" y="5956204"/>
            <a:ext cx="4353669" cy="18725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DG2 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17244" y="5918388"/>
            <a:ext cx="2327224" cy="2628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0.9561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65330" y="5918388"/>
            <a:ext cx="2327224" cy="2628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0.9494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563575" y="6181278"/>
            <a:ext cx="4432807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DG2 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17244" y="6181278"/>
            <a:ext cx="2327224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0.9601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165330" y="6181278"/>
            <a:ext cx="2327224" cy="26289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0.9516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id="{CC42D3C5-9497-CD78-4143-8D81C444BCDC}"/>
              </a:ext>
            </a:extLst>
          </p:cNvPr>
          <p:cNvSpPr/>
          <p:nvPr/>
        </p:nvSpPr>
        <p:spPr>
          <a:xfrm>
            <a:off x="1633441" y="6460315"/>
            <a:ext cx="4283803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DG1 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5F87B376-43C4-CE76-AC29-8E1EC15B9346}"/>
              </a:ext>
            </a:extLst>
          </p:cNvPr>
          <p:cNvSpPr/>
          <p:nvPr/>
        </p:nvSpPr>
        <p:spPr>
          <a:xfrm>
            <a:off x="5971210" y="6460315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0.9641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BEB87AD-F470-99D7-01D4-0812683883E1}"/>
              </a:ext>
            </a:extLst>
          </p:cNvPr>
          <p:cNvSpPr/>
          <p:nvPr/>
        </p:nvSpPr>
        <p:spPr>
          <a:xfrm>
            <a:off x="8219296" y="6444168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0.9614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93192" y="3134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XGBoost</a:t>
            </a: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 with CVAE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9330" y="946477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Book Antiqua" panose="02040602050305030304" pitchFamily="18" charset="0"/>
              </a:rPr>
              <a:t>We evaluated CVAE-generated mixed training data using XGBoost.</a:t>
            </a:r>
          </a:p>
        </p:txBody>
      </p:sp>
      <p:pic>
        <p:nvPicPr>
          <p:cNvPr id="7" name="Image 0" descr="/mnt/data/nb_images/cell16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04" y="1465289"/>
            <a:ext cx="4459159" cy="3657600"/>
          </a:xfrm>
          <a:prstGeom prst="rect">
            <a:avLst/>
          </a:prstGeom>
        </p:spPr>
      </p:pic>
      <p:pic>
        <p:nvPicPr>
          <p:cNvPr id="8" name="Image 1" descr="/mnt/data/nb_images/cell166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67" y="1490617"/>
            <a:ext cx="4459159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8451" y="5280167"/>
            <a:ext cx="4283803" cy="246743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XGBoost + CVAE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631343" y="5280167"/>
            <a:ext cx="2248997" cy="246743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879429" y="5280167"/>
            <a:ext cx="2248997" cy="246743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48451" y="5508767"/>
            <a:ext cx="4283803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DG1 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631343" y="5508767"/>
            <a:ext cx="2248997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0.9561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879429" y="5508767"/>
            <a:ext cx="2248997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0.9510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348451" y="5737367"/>
            <a:ext cx="4283803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DG1 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631343" y="5737367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0.9701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879429" y="5737367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0.9684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348451" y="5965967"/>
            <a:ext cx="4283803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DG2 Binary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631343" y="5965967"/>
            <a:ext cx="2248997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0.9421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879429" y="5965967"/>
            <a:ext cx="2248997" cy="246743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0.9306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348451" y="6194567"/>
            <a:ext cx="4283803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DG2 Categorical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631343" y="6194567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0.9461</a:t>
            </a: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879429" y="6194567"/>
            <a:ext cx="2248997" cy="2467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0.9325</a:t>
            </a:r>
            <a:endParaRPr lang="en-US" sz="1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4206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</a:rPr>
              <a:t>SYNTHETIC DATA QUALITY CHECKS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291" y="12161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We checked validity, diversity, duplicates and exact real-data copies</a:t>
            </a:r>
            <a:r>
              <a:rPr lang="en-US" sz="1150" dirty="0">
                <a:solidFill>
                  <a:srgbClr val="5F5F5F"/>
                </a:solidFill>
                <a:latin typeface="Book Antiqua" panose="02040602050305030304" pitchFamily="18" charset="0"/>
              </a:rPr>
              <a:t>.</a:t>
            </a:r>
            <a:endParaRPr lang="en-US" sz="1150" dirty="0">
              <a:latin typeface="Book Antiqua" panose="02040602050305030304" pitchFamily="18" charset="0"/>
            </a:endParaRPr>
          </a:p>
        </p:txBody>
      </p:sp>
      <p:pic>
        <p:nvPicPr>
          <p:cNvPr id="7" name="Image 0" descr="/mnt/data/ppt25_assets/synthetic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91" y="1838495"/>
            <a:ext cx="6537960" cy="38789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14985" y="2712141"/>
            <a:ext cx="164592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Valid values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260905" y="2712141"/>
            <a:ext cx="251460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Generated features stay within {0,1} or {0,1,2,3}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14985" y="3108381"/>
            <a:ext cx="1645920" cy="39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Unique samples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260905" y="3108381"/>
            <a:ext cx="2514600" cy="39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How many different synthetic rows were created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14985" y="3504621"/>
            <a:ext cx="164592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Duplicate rows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260905" y="3504621"/>
            <a:ext cx="251460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Repeated synthetic rows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14985" y="3900861"/>
            <a:ext cx="1645920" cy="39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Exact real copies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260905" y="3900861"/>
            <a:ext cx="2514600" cy="39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Synthetic rows identical to real training rows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14985" y="4297101"/>
            <a:ext cx="164592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Average active alarms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60905" y="4297101"/>
            <a:ext cx="2514600" cy="39624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Whether generated rows have realistic sparsity</a:t>
            </a:r>
            <a:endParaRPr lang="en-US" sz="890" dirty="0">
              <a:latin typeface="Book Antiqua" panose="0204060205030503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19B53E-6424-A586-FC1A-EC6B4FA65A46}"/>
              </a:ext>
            </a:extLst>
          </p:cNvPr>
          <p:cNvSpPr/>
          <p:nvPr/>
        </p:nvSpPr>
        <p:spPr>
          <a:xfrm>
            <a:off x="1398494" y="5922312"/>
            <a:ext cx="8772862" cy="58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CVAE tends to be more diverse; SMOTEN is faster but often creates copy-like rows</a:t>
            </a: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1044" y="529367"/>
            <a:ext cx="8116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C2D4B"/>
                </a:solidFill>
              </a:defRPr>
            </a:pPr>
            <a:r>
              <a:rPr lang="en-IN" sz="2800" dirty="0">
                <a:solidFill>
                  <a:schemeClr val="accent2"/>
                </a:solidFill>
                <a:latin typeface="Book Antiqua" panose="02040602050305030304" pitchFamily="18" charset="0"/>
              </a:rPr>
              <a:t>PER CLASS AND CABLE FAILURE ANALYSIS</a:t>
            </a:r>
            <a:endParaRPr sz="2800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52843" y="4783851"/>
            <a:ext cx="45133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10">
                <a:solidFill>
                  <a:srgbClr val="252A32"/>
                </a:solidFill>
              </a:defRPr>
            </a:pPr>
            <a:r>
              <a:rPr sz="1600" dirty="0">
                <a:latin typeface="Book Antiqua" panose="02040602050305030304" pitchFamily="18" charset="0"/>
              </a:rPr>
              <a:t>In DataGen-2, the best Cable F1 is </a:t>
            </a:r>
            <a:r>
              <a:rPr sz="1600" dirty="0" err="1">
                <a:latin typeface="Book Antiqua" panose="02040602050305030304" pitchFamily="18" charset="0"/>
              </a:rPr>
              <a:t>XGBoost</a:t>
            </a:r>
            <a:r>
              <a:rPr sz="1600" dirty="0">
                <a:latin typeface="Book Antiqua" panose="02040602050305030304" pitchFamily="18" charset="0"/>
              </a:rPr>
              <a:t> + SMOTEN = 0.9244.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sz="1600" dirty="0">
                <a:latin typeface="Book Antiqua" panose="02040602050305030304" pitchFamily="18" charset="0"/>
              </a:rPr>
              <a:t>The best Cable recall is </a:t>
            </a:r>
            <a:r>
              <a:rPr sz="1600" dirty="0" err="1">
                <a:latin typeface="Book Antiqua" panose="02040602050305030304" pitchFamily="18" charset="0"/>
              </a:rPr>
              <a:t>XGBoost</a:t>
            </a:r>
            <a:r>
              <a:rPr sz="1600" dirty="0">
                <a:latin typeface="Book Antiqua" panose="02040602050305030304" pitchFamily="18" charset="0"/>
              </a:rPr>
              <a:t> + CVAE = 0.9516.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D23D5DC-92CB-145B-0438-BD0397001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206296"/>
              </p:ext>
            </p:extLst>
          </p:nvPr>
        </p:nvGraphicFramePr>
        <p:xfrm>
          <a:off x="135591" y="1530348"/>
          <a:ext cx="6161218" cy="1893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611">
                  <a:extLst>
                    <a:ext uri="{9D8B030D-6E8A-4147-A177-3AD203B41FA5}">
                      <a16:colId xmlns:a16="http://schemas.microsoft.com/office/drawing/2014/main" val="3825230364"/>
                    </a:ext>
                  </a:extLst>
                </a:gridCol>
                <a:gridCol w="1062500">
                  <a:extLst>
                    <a:ext uri="{9D8B030D-6E8A-4147-A177-3AD203B41FA5}">
                      <a16:colId xmlns:a16="http://schemas.microsoft.com/office/drawing/2014/main" val="3649673558"/>
                    </a:ext>
                  </a:extLst>
                </a:gridCol>
                <a:gridCol w="1062500">
                  <a:extLst>
                    <a:ext uri="{9D8B030D-6E8A-4147-A177-3AD203B41FA5}">
                      <a16:colId xmlns:a16="http://schemas.microsoft.com/office/drawing/2014/main" val="120778860"/>
                    </a:ext>
                  </a:extLst>
                </a:gridCol>
                <a:gridCol w="1062500">
                  <a:extLst>
                    <a:ext uri="{9D8B030D-6E8A-4147-A177-3AD203B41FA5}">
                      <a16:colId xmlns:a16="http://schemas.microsoft.com/office/drawing/2014/main" val="3018300476"/>
                    </a:ext>
                  </a:extLst>
                </a:gridCol>
                <a:gridCol w="900703">
                  <a:extLst>
                    <a:ext uri="{9D8B030D-6E8A-4147-A177-3AD203B41FA5}">
                      <a16:colId xmlns:a16="http://schemas.microsoft.com/office/drawing/2014/main" val="881755698"/>
                    </a:ext>
                  </a:extLst>
                </a:gridCol>
                <a:gridCol w="1261404">
                  <a:extLst>
                    <a:ext uri="{9D8B030D-6E8A-4147-A177-3AD203B41FA5}">
                      <a16:colId xmlns:a16="http://schemas.microsoft.com/office/drawing/2014/main" val="774819121"/>
                    </a:ext>
                  </a:extLst>
                </a:gridCol>
              </a:tblGrid>
              <a:tr h="52411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Book Antiqua" panose="02040602050305030304" pitchFamily="18" charset="0"/>
                        </a:rPr>
                        <a:t>PRECISION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325474"/>
                  </a:ext>
                </a:extLst>
              </a:tr>
              <a:tr h="34223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IDU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664534"/>
                  </a:ext>
                </a:extLst>
              </a:tr>
              <a:tr h="34223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ODU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969814"/>
                  </a:ext>
                </a:extLst>
              </a:tr>
              <a:tr h="34223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014026"/>
                  </a:ext>
                </a:extLst>
              </a:tr>
              <a:tr h="34223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012923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FAFE6A4-D16B-465B-F36E-B79D89C5C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45246"/>
              </p:ext>
            </p:extLst>
          </p:nvPr>
        </p:nvGraphicFramePr>
        <p:xfrm>
          <a:off x="6931968" y="3617051"/>
          <a:ext cx="5124441" cy="255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147">
                  <a:extLst>
                    <a:ext uri="{9D8B030D-6E8A-4147-A177-3AD203B41FA5}">
                      <a16:colId xmlns:a16="http://schemas.microsoft.com/office/drawing/2014/main" val="1762859135"/>
                    </a:ext>
                  </a:extLst>
                </a:gridCol>
                <a:gridCol w="1708147">
                  <a:extLst>
                    <a:ext uri="{9D8B030D-6E8A-4147-A177-3AD203B41FA5}">
                      <a16:colId xmlns:a16="http://schemas.microsoft.com/office/drawing/2014/main" val="732077382"/>
                    </a:ext>
                  </a:extLst>
                </a:gridCol>
                <a:gridCol w="1708147">
                  <a:extLst>
                    <a:ext uri="{9D8B030D-6E8A-4147-A177-3AD203B41FA5}">
                      <a16:colId xmlns:a16="http://schemas.microsoft.com/office/drawing/2014/main" val="2359108416"/>
                    </a:ext>
                  </a:extLst>
                </a:gridCol>
              </a:tblGrid>
              <a:tr h="33355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DG2 BINARY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CLASS 2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CLASS 2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495645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0.6290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0.7647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022852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0.7581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94735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RF CVAE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03773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XGB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02440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XGB SMOTEN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0.9244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203872"/>
                  </a:ext>
                </a:extLst>
              </a:tr>
              <a:tr h="3394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XGB CVAE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0.9516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0.8741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07214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60B97AF-F47E-26D0-425A-EAE1A639067E}"/>
              </a:ext>
            </a:extLst>
          </p:cNvPr>
          <p:cNvSpPr txBox="1"/>
          <p:nvPr/>
        </p:nvSpPr>
        <p:spPr>
          <a:xfrm>
            <a:off x="6296809" y="1994416"/>
            <a:ext cx="5895191" cy="1094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10">
                <a:solidFill>
                  <a:srgbClr val="252A32"/>
                </a:solidFill>
              </a:defRPr>
            </a:pPr>
            <a:r>
              <a:rPr lang="en-US" sz="1600" dirty="0">
                <a:latin typeface="Book Antiqua" panose="02040602050305030304" pitchFamily="18" charset="0"/>
              </a:rPr>
              <a:t>Best overall model: </a:t>
            </a:r>
            <a:r>
              <a:rPr lang="en-US" sz="1600" dirty="0" err="1">
                <a:latin typeface="Book Antiqua" panose="02040602050305030304" pitchFamily="18" charset="0"/>
              </a:rPr>
              <a:t>XGBoost</a:t>
            </a:r>
            <a:r>
              <a:rPr lang="en-US" sz="1600" dirty="0">
                <a:latin typeface="Book Antiqua" panose="02040602050305030304" pitchFamily="18" charset="0"/>
              </a:rPr>
              <a:t> + categorical + DG1 Base. Cable failure performs well in the best overall model: precision 0.97, recall 0.98, F1 0.98.</a:t>
            </a:r>
          </a:p>
          <a:p>
            <a:pPr>
              <a:spcAft>
                <a:spcPts val="600"/>
              </a:spcAft>
              <a:defRPr sz="1210">
                <a:solidFill>
                  <a:srgbClr val="252A32"/>
                </a:solidFill>
              </a:defRPr>
            </a:pPr>
            <a:endParaRPr lang="en-US" sz="121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4206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  <a:ea typeface="Aptos Display" pitchFamily="34" charset="-122"/>
                <a:cs typeface="Aptos Display" pitchFamily="34" charset="-120"/>
              </a:rPr>
              <a:t>CLASS 2 CABLE FAILURE RECOVERY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0843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Book Antiqua" panose="02040602050305030304" pitchFamily="18" charset="0"/>
              </a:rPr>
              <a:t>Class 2 is the minority class and the target of DataGen-2.</a:t>
            </a:r>
          </a:p>
        </p:txBody>
      </p:sp>
      <p:pic>
        <p:nvPicPr>
          <p:cNvPr id="7" name="Image 0" descr="/mnt/data/ppt25_assets/class2_datagen2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846046"/>
            <a:ext cx="5349240" cy="3445640"/>
          </a:xfrm>
          <a:prstGeom prst="rect">
            <a:avLst/>
          </a:prstGeom>
        </p:spPr>
      </p:pic>
      <p:pic>
        <p:nvPicPr>
          <p:cNvPr id="8" name="Image 1" descr="/mnt/data/ppt25_assets/class2_datagen2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2" y="1894456"/>
            <a:ext cx="5349240" cy="34456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9BC381D-0FCD-54E9-A497-CADE3700BF37}"/>
              </a:ext>
            </a:extLst>
          </p:cNvPr>
          <p:cNvSpPr/>
          <p:nvPr/>
        </p:nvSpPr>
        <p:spPr>
          <a:xfrm>
            <a:off x="2271656" y="5588598"/>
            <a:ext cx="7648687" cy="930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Under DataGen-2, synthetic data improves Cable recovery in several configurations, especially </a:t>
            </a:r>
            <a:r>
              <a:rPr lang="en-US" sz="1600" dirty="0" err="1">
                <a:solidFill>
                  <a:schemeClr val="bg1"/>
                </a:solidFill>
                <a:latin typeface="Book Antiqua" panose="02040602050305030304" pitchFamily="18" charset="0"/>
              </a:rPr>
              <a:t>XGBoost</a:t>
            </a:r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 + Binary + SMOTEN for Class-2 F1</a:t>
            </a:r>
            <a:endParaRPr lang="en-IN" sz="16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4206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Book Antiqua" panose="02040602050305030304" pitchFamily="18" charset="0"/>
              </a:rPr>
              <a:t>OVERALL RESULT VISUALIZATION</a:t>
            </a:r>
          </a:p>
        </p:txBody>
      </p:sp>
      <p:pic>
        <p:nvPicPr>
          <p:cNvPr id="7" name="Image 0" descr="/mnt/data/ppt25_assets/overall_results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16" y="1190557"/>
            <a:ext cx="4619825" cy="45053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F87403-622C-A29A-1F6B-30D797B00A5B}"/>
              </a:ext>
            </a:extLst>
          </p:cNvPr>
          <p:cNvSpPr txBox="1"/>
          <p:nvPr/>
        </p:nvSpPr>
        <p:spPr>
          <a:xfrm>
            <a:off x="6907721" y="1857812"/>
            <a:ext cx="465943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Main result:</a:t>
            </a:r>
          </a:p>
          <a:p>
            <a:pPr marL="0" indent="0">
              <a:buNone/>
            </a:pPr>
            <a:endParaRPr lang="en-US" b="1" u="sng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Book Antiqua" panose="02040602050305030304" pitchFamily="18" charset="0"/>
              </a:rPr>
              <a:t>Best Macro F1 = 0.9690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222222"/>
                </a:solidFill>
                <a:latin typeface="Book Antiqua" panose="02040602050305030304" pitchFamily="18" charset="0"/>
              </a:rPr>
              <a:t>XGBoost</a:t>
            </a:r>
            <a:r>
              <a:rPr lang="en-US" sz="1600" dirty="0">
                <a:solidFill>
                  <a:srgbClr val="222222"/>
                </a:solidFill>
                <a:latin typeface="Book Antiqua" panose="02040602050305030304" pitchFamily="18" charset="0"/>
              </a:rPr>
              <a:t> |Categorical | DataGen-1 |Base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B320C-D596-FCCA-789C-9F1288CD123A}"/>
              </a:ext>
            </a:extLst>
          </p:cNvPr>
          <p:cNvSpPr txBox="1"/>
          <p:nvPr/>
        </p:nvSpPr>
        <p:spPr>
          <a:xfrm>
            <a:off x="6907721" y="3639314"/>
            <a:ext cx="447725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Best synthetic:</a:t>
            </a:r>
          </a:p>
          <a:p>
            <a:pPr marL="0" indent="0" algn="ctr">
              <a:buNone/>
            </a:pPr>
            <a:endParaRPr lang="en-US" u="sng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Book Antiqua" panose="02040602050305030304" pitchFamily="18" charset="0"/>
              </a:rPr>
              <a:t>Macro F1 = 0.9684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222222"/>
                </a:solidFill>
                <a:latin typeface="Book Antiqua" panose="02040602050305030304" pitchFamily="18" charset="0"/>
              </a:rPr>
              <a:t>XGBoost</a:t>
            </a:r>
            <a:r>
              <a:rPr lang="en-US" sz="1600" dirty="0">
                <a:solidFill>
                  <a:srgbClr val="222222"/>
                </a:solidFill>
                <a:latin typeface="Book Antiqua" panose="02040602050305030304" pitchFamily="18" charset="0"/>
              </a:rPr>
              <a:t> |Categorical |DataGen-1 | CVAE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5E682-56AA-24D7-F2D5-CB00CD2A81AD}"/>
              </a:ext>
            </a:extLst>
          </p:cNvPr>
          <p:cNvSpPr/>
          <p:nvPr/>
        </p:nvSpPr>
        <p:spPr>
          <a:xfrm>
            <a:off x="502920" y="5870473"/>
            <a:ext cx="11295529" cy="642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Book Antiqua" panose="02040602050305030304" pitchFamily="18" charset="0"/>
              </a:rPr>
              <a:t>Synthetic data was useful in some imbalance scenarios, but not always better than a strong real-only baseline</a:t>
            </a:r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79968E-F7A2-28AF-49A5-391559937D9D}"/>
              </a:ext>
            </a:extLst>
          </p:cNvPr>
          <p:cNvSpPr txBox="1"/>
          <p:nvPr/>
        </p:nvSpPr>
        <p:spPr>
          <a:xfrm>
            <a:off x="1532965" y="5357308"/>
            <a:ext cx="10533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latin typeface="Book Antiqua" panose="0204060205030503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574547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</a:rPr>
              <a:t>FINAL INTERPRETATIONS AND LIMITATIONS 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5257" y="1335741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F5F5F"/>
                </a:solidFill>
                <a:latin typeface="Book Antiqua" panose="02040602050305030304" pitchFamily="18" charset="0"/>
              </a:rPr>
              <a:t>We summarized what the results mean and reported limitations below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9699" y="2138083"/>
            <a:ext cx="1828800" cy="48768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08499" y="2138083"/>
            <a:ext cx="4480560" cy="487680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9699" y="2625763"/>
            <a:ext cx="182880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Best overall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8499" y="2625763"/>
            <a:ext cx="448056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XGBoost + categorical + DG1 Base, Macro F1 0.9690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9699" y="3113443"/>
            <a:ext cx="1828800" cy="487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Best synthetic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08499" y="3113443"/>
            <a:ext cx="4480560" cy="487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XGBoost + categorical + DG1 CVAE, Macro F1 0.9684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9699" y="3601123"/>
            <a:ext cx="182880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DataGen-2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08499" y="3601123"/>
            <a:ext cx="448056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Harder scenario; synthetic data helps some models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9699" y="4088803"/>
            <a:ext cx="1828800" cy="487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CVAE vs SMOTEN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08499" y="4088803"/>
            <a:ext cx="4480560" cy="487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CVAE more diverse; SMOTEN faster and simpler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9699" y="4576483"/>
            <a:ext cx="182880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Main lesson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08499" y="4576483"/>
            <a:ext cx="4480560" cy="487680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More generated data is not automatically better</a:t>
            </a:r>
            <a:endParaRPr lang="en-US" sz="980" dirty="0">
              <a:latin typeface="Book Antiqua" panose="0204060205030503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78762" y="2138083"/>
            <a:ext cx="2011680" cy="585216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90442" y="2138083"/>
            <a:ext cx="2240280" cy="585216"/>
          </a:xfrm>
          <a:prstGeom prst="rect">
            <a:avLst/>
          </a:prstGeom>
          <a:solidFill>
            <a:srgbClr val="A56E53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How we handled it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78762" y="2723299"/>
            <a:ext cx="2011680" cy="585216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Train–test pattern overlap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90442" y="2723299"/>
            <a:ext cx="2240280" cy="585216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Reported 37.13% overlap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78762" y="3308515"/>
            <a:ext cx="2011680" cy="585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SMOTEN vs standard SMOTE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90442" y="3308515"/>
            <a:ext cx="2240280" cy="585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Explained as SMOTE-family method for discrete features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78762" y="3893731"/>
            <a:ext cx="2011680" cy="585216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Repeated patterns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90442" y="3893731"/>
            <a:ext cx="2240280" cy="585216"/>
          </a:xfrm>
          <a:prstGeom prst="rect">
            <a:avLst/>
          </a:prstGeom>
          <a:solidFill>
            <a:srgbClr val="F7F1ED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Same split used for all methods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78762" y="4478947"/>
            <a:ext cx="2011680" cy="585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Optional advanced task</a:t>
            </a:r>
            <a:endParaRPr lang="en-US" sz="940" dirty="0">
              <a:latin typeface="Book Antiqua" panose="0204060205030503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90442" y="4478947"/>
            <a:ext cx="2240280" cy="585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Not claimed as XAI/TL/FL</a:t>
            </a:r>
            <a:endParaRPr lang="en-US" sz="94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42539" y="4992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56E53"/>
                </a:solidFill>
                <a:latin typeface="Book Antiqua" panose="02040602050305030304" pitchFamily="18" charset="0"/>
              </a:rPr>
              <a:t>SUMMARY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1040" y="145618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ook Antiqua" panose="02040602050305030304" pitchFamily="18" charset="0"/>
              </a:rPr>
              <a:t>We achieved the following</a:t>
            </a:r>
          </a:p>
        </p:txBody>
      </p:sp>
      <p:sp>
        <p:nvSpPr>
          <p:cNvPr id="7" name="Text 5"/>
          <p:cNvSpPr/>
          <p:nvPr/>
        </p:nvSpPr>
        <p:spPr>
          <a:xfrm>
            <a:off x="701040" y="2580491"/>
            <a:ext cx="1828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34639" y="2580491"/>
            <a:ext cx="1828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3821" y="2592325"/>
            <a:ext cx="1828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13003" y="2592325"/>
            <a:ext cx="1828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53369" y="2592325"/>
            <a:ext cx="1828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1080" y="4391138"/>
            <a:ext cx="101498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Completed raw-data analysis, preprocessing, model tuning, generation scenarios and final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Compared SMOTEN and CVAE under DataGen-1 and DataGen-2.</a:t>
            </a:r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Evaluated Random Forest and XGBoost on a fixed real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Found that synthetic data helps mainly under scarcity, but strong Base models can already perform very well.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D9721-792F-835A-A05E-73513DA2FAAE}"/>
              </a:ext>
            </a:extLst>
          </p:cNvPr>
          <p:cNvSpPr/>
          <p:nvPr/>
        </p:nvSpPr>
        <p:spPr>
          <a:xfrm>
            <a:off x="618569" y="2514600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24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complete experiments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DDE799-6451-ED5B-7936-C783DCDABFCF}"/>
              </a:ext>
            </a:extLst>
          </p:cNvPr>
          <p:cNvSpPr/>
          <p:nvPr/>
        </p:nvSpPr>
        <p:spPr>
          <a:xfrm>
            <a:off x="9764350" y="2537729"/>
            <a:ext cx="1678191" cy="837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0.9684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best synthetic Macro F1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F07B69-B14F-CCF1-4763-BCC147BD7689}"/>
              </a:ext>
            </a:extLst>
          </p:cNvPr>
          <p:cNvSpPr/>
          <p:nvPr/>
        </p:nvSpPr>
        <p:spPr>
          <a:xfrm>
            <a:off x="5215665" y="2545262"/>
            <a:ext cx="1678191" cy="837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synthetic-quality rows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09F6A3-E0BB-F665-9AE0-9501856BF20D}"/>
              </a:ext>
            </a:extLst>
          </p:cNvPr>
          <p:cNvSpPr/>
          <p:nvPr/>
        </p:nvSpPr>
        <p:spPr>
          <a:xfrm>
            <a:off x="7469395" y="2545262"/>
            <a:ext cx="1678191" cy="837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0.9690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best Macro F1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0EFAD0-3BCE-4C20-7CA3-BC44F6AE1242}"/>
              </a:ext>
            </a:extLst>
          </p:cNvPr>
          <p:cNvSpPr/>
          <p:nvPr/>
        </p:nvSpPr>
        <p:spPr>
          <a:xfrm>
            <a:off x="2985248" y="2515677"/>
            <a:ext cx="1742738" cy="881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96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  <a:ea typeface="Aptos" pitchFamily="34" charset="-122"/>
                <a:cs typeface="Aptos" pitchFamily="34" charset="-120"/>
              </a:rPr>
              <a:t>per-class rows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49E401-B378-838B-8928-D77377639FBA}"/>
              </a:ext>
            </a:extLst>
          </p:cNvPr>
          <p:cNvSpPr txBox="1"/>
          <p:nvPr/>
        </p:nvSpPr>
        <p:spPr>
          <a:xfrm>
            <a:off x="4340710" y="2909944"/>
            <a:ext cx="4792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Book Antiqua" panose="0204060205030503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0F6281C9749541B2A0BB904B7DC707" ma:contentTypeVersion="4" ma:contentTypeDescription="Creare un nuovo documento." ma:contentTypeScope="" ma:versionID="39aa1958a5825ca08a75d4f9da127b8e">
  <xsd:schema xmlns:xsd="http://www.w3.org/2001/XMLSchema" xmlns:xs="http://www.w3.org/2001/XMLSchema" xmlns:p="http://schemas.microsoft.com/office/2006/metadata/properties" xmlns:ns3="8c65ad99-3709-4e05-bc1f-23d9586f846e" targetNamespace="http://schemas.microsoft.com/office/2006/metadata/properties" ma:root="true" ma:fieldsID="e6412e2a3215b27e2a3eea1d0159a6f4" ns3:_="">
    <xsd:import namespace="8c65ad99-3709-4e05-bc1f-23d9586f846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5ad99-3709-4e05-bc1f-23d9586f84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8c65ad99-3709-4e05-bc1f-23d9586f846e"/>
  </ds:schemaRefs>
</ds:datastoreItem>
</file>

<file path=customXml/itemProps2.xml><?xml version="1.0" encoding="utf-8"?>
<ds:datastoreItem xmlns:ds="http://schemas.openxmlformats.org/officeDocument/2006/customXml" ds:itemID="{E365A527-716B-4F68-81B3-83818ECDAC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65ad99-3709-4e05-bc1f-23d9586f84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2016</Words>
  <Application>Microsoft Office PowerPoint</Application>
  <PresentationFormat>Widescreen</PresentationFormat>
  <Paragraphs>478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Book Antiqua</vt:lpstr>
      <vt:lpstr>Calibri</vt:lpstr>
      <vt:lpstr>Neue Haas Grotesk Text Pro</vt:lpstr>
      <vt:lpstr>OasisVTI</vt:lpstr>
      <vt:lpstr>Synthetic data generation in microwave networks</vt:lpstr>
      <vt:lpstr>WHAT IS A MICROWAVE NETWORK? </vt:lpstr>
      <vt:lpstr>WHY FAILURE MANAGEMENT MATTERS IN MICROWAVE NETWORKS?</vt:lpstr>
      <vt:lpstr>HOW DO FAILURES APPEAR IN THE NETWORK?</vt:lpstr>
      <vt:lpstr>Dataset overview </vt:lpstr>
      <vt:lpstr>PowerPoint Presentation</vt:lpstr>
      <vt:lpstr>ALARM DURATION AND FAILURE PATTERNS</vt:lpstr>
      <vt:lpstr>Feature preprocessing: two representations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Karuniaa Jacob Selvi</dc:creator>
  <cp:lastModifiedBy>Karuniaa Jacob Selvi</cp:lastModifiedBy>
  <cp:revision>4</cp:revision>
  <dcterms:created xsi:type="dcterms:W3CDTF">2026-07-12T15:32:22Z</dcterms:created>
  <dcterms:modified xsi:type="dcterms:W3CDTF">2026-07-15T20:56:55Z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0x0101000A0F6281C9749541B2A0BB904B7DC707</vt:lpwstr>
  </property>
  <property fmtid="{D5CDD505-2E9C-101B-9397-08002B2CF9AE}" pid="3" name="MediaServiceImageTags">
    <vt:lpwstr/>
  </property>
</Properties>
</file>